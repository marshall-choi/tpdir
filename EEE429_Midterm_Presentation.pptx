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our mid-term progress report for EEE429. We will walk through exactly what we have completed so far — the quantized CNN model, training results, and all hardware artifact exports — as implemented in EEE426_FINAL.ipynb.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summarises all completed deliverables. Every item listed has been executed and outputs verified inside the notebook. I will go through each in detail on the following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fixed by the project spec. All three convolutional layers use valid-padding three-by-three kernels, stride one. The spatial dimension steps from twenty-eight to twenty-six to twenty-four to twenty-two. After the two-by-two max pool we get eleven by eleven by thirty-two, which flattens to 3872. The FC layer maps that to ten class scores. Red Q badges show where a fixed-point quantizer is inserted in the forward pass.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sixteen-bit signed fixed-point with seven integer bits and nine fraction bits. The representable range is minus sixty-four to roughly plus sixty-four. In Python the emulator clamps the tensor to that range and rounds to the nearest 1/512. Importantly the backward pass uses a straight-through estimator — the gradient passes through the quantizer unchanged so training stays stable. The exported C header declares using fixed_t equal to ap_fixed sixteen seven AP_RND AP_SAT which is bitwise identical to this emulation.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forward pass order in the notebook. The input is first snapped to the fixed-point grid. Then for each convolution we quantize weights and biases inside QuantizedConv2d, quantize the convolution output, and then apply ReLU. After the third convolution and ReLU the pooled output is quantized one more time. Finally the flattened vector goes through QuantizedLinear which also quantizes its weights. The HLS kernel must mirror this order exactly.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ran on Google Colab with a T4 GPU. We used Adam with one-thousandth learning rate, batch size two fifty-six, and five epochs. Best checkpoint is saved to milestones. Input preprocessing normalises pixel values from zero-one to minus-one to plus-one. This same transform must be applied on the board driver at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epoch log: training accuracy climbs from ninety-one percent to ninety-nine percent over five epochs. Test accuracy peaked at ninety-eight point ninety-two percent on epoch four, which triggered a checkpoint save. The full-dataset number of ninety-nine point thirty-six percent is higher because the model was also evaluated on its own training data. The key number for the course is the test accuracy of ninety-eight point ninety-two percent which is well above the ninety-three percent threshold.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class loads the PyTorch state dictionary and iterates over every tensor. Each tensor is snapped to the sixteen-seven fixed-point grid using the same clamp-round function as training. It then generates a nested C brace initialiser and writes one self-contained header file. The file declares a using typedef matching the HLS ap_fixed type so the hardware C code can include it directly. Shape defines such as CONV1_WEIGHT_DIM0 and so on are emitted for each tensor so the HLS kernel can reference them symbolically. The latest output file is about eight thousand lines long.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export section produces two types of output. images.h contains two hundred eighty hand-picked samples — twenty-eight per digit — in a four-dimensional C array. Shape is preserved as batch by channel by height by width. This allows the hardware team to compile a quick functional test without extra infrastructure. The NumPy exports cover all seventy thousand MNIST images sorted by digit class, which is convenient for co-simulation where you want to sweep a full digit at a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full software pipeline as it stands today. Starting from MNIST data we train QUANTIZED_MNISTCNN with QAT. The best checkpoint at ninety-eight point ninety-two percent test accuracy is saved. From that checkpoint we export a weights.h file containing all eight tensors snapped to the fixed-point grid, plus images.h and NumPy archives for co-simulation. Everything to the right of the dotted line is an artifact consumed by the hardware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hardware side the team is implementing the HLS kernel to match our forward graph order. The most important joint agreement is that the memory layout of each tensor and the input normalisation must exactly match. On the software side I still need to write the board-side Jupyter notebook driver using only NumPy and PYNQ as required by the course. After the bitstream is available we measure inference accuracy and runtime on the board and compare against our ninety-eight point ninety-two percent software baseline.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on the quantization scheme, the exact forward-pass order, the export format, or the interface contract with the hardware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2286000"/>
            <a:ext cx="12191695" cy="2377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058400" cy="640080"/>
          </a:xfrm>
          <a:prstGeom prst="rect">
            <a:avLst/>
          </a:prstGeom>
          <a:noFill/>
        </p:spPr>
        <p:txBody>
          <a:bodyPr wrap="square">
            <a:spAutoFit/>
          </a:bodyPr>
          <a:lstStyle/>
          <a:p>
            <a:pPr algn="ctr"/>
            <a:r>
              <a:rPr sz="4400" b="1">
                <a:solidFill>
                  <a:srgbClr val="74C7EC"/>
                </a:solidFill>
              </a:rPr>
              <a:t>EEE429 Final Project</a:t>
            </a:r>
          </a:p>
        </p:txBody>
      </p:sp>
      <p:sp>
        <p:nvSpPr>
          <p:cNvPr id="4" name="TextBox 3"/>
          <p:cNvSpPr txBox="1"/>
          <p:nvPr/>
        </p:nvSpPr>
        <p:spPr>
          <a:xfrm>
            <a:off x="914400" y="3017520"/>
            <a:ext cx="10058400" cy="548640"/>
          </a:xfrm>
          <a:prstGeom prst="rect">
            <a:avLst/>
          </a:prstGeom>
          <a:noFill/>
        </p:spPr>
        <p:txBody>
          <a:bodyPr wrap="square">
            <a:spAutoFit/>
          </a:bodyPr>
          <a:lstStyle/>
          <a:p>
            <a:pPr algn="ctr"/>
            <a:r>
              <a:rPr sz="2600" b="0">
                <a:solidFill>
                  <a:srgbClr val="FFFFFF"/>
                </a:solidFill>
              </a:rPr>
              <a:t>Mid-Term Progress Presentation</a:t>
            </a:r>
          </a:p>
        </p:txBody>
      </p:sp>
      <p:sp>
        <p:nvSpPr>
          <p:cNvPr id="5" name="TextBox 4"/>
          <p:cNvSpPr txBox="1"/>
          <p:nvPr/>
        </p:nvSpPr>
        <p:spPr>
          <a:xfrm>
            <a:off x="914400" y="3566160"/>
            <a:ext cx="10058400" cy="457200"/>
          </a:xfrm>
          <a:prstGeom prst="rect">
            <a:avLst/>
          </a:prstGeom>
          <a:noFill/>
        </p:spPr>
        <p:txBody>
          <a:bodyPr wrap="square">
            <a:spAutoFit/>
          </a:bodyPr>
          <a:lstStyle/>
          <a:p>
            <a:pPr algn="ctr"/>
            <a:r>
              <a:rPr sz="1800" b="0">
                <a:solidFill>
                  <a:srgbClr val="CDD6F4"/>
                </a:solidFill>
              </a:rPr>
              <a:t>MNIST CNN — Quantization-Aware Training &amp; HW Artifact Generation</a:t>
            </a:r>
          </a:p>
        </p:txBody>
      </p:sp>
      <p:sp>
        <p:nvSpPr>
          <p:cNvPr id="6" name="TextBox 5"/>
          <p:cNvSpPr txBox="1"/>
          <p:nvPr/>
        </p:nvSpPr>
        <p:spPr>
          <a:xfrm>
            <a:off x="914400" y="4754880"/>
            <a:ext cx="10058400" cy="365760"/>
          </a:xfrm>
          <a:prstGeom prst="rect">
            <a:avLst/>
          </a:prstGeom>
          <a:noFill/>
        </p:spPr>
        <p:txBody>
          <a:bodyPr wrap="square">
            <a:spAutoFit/>
          </a:bodyPr>
          <a:lstStyle/>
          <a:p>
            <a:pPr algn="ctr"/>
            <a:r>
              <a:rPr sz="1400" b="0">
                <a:solidFill>
                  <a:srgbClr val="585B70"/>
                </a:solidFill>
              </a:rPr>
              <a:t>Based on: EEE426_FINAL.ipynb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What We Have Completed</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EEE426_FINAL.ipynb — full software pipeline end-to-end</a:t>
            </a:r>
          </a:p>
        </p:txBody>
      </p:sp>
      <p:sp>
        <p:nvSpPr>
          <p:cNvPr id="5" name="Rectangle 4"/>
          <p:cNvSpPr/>
          <p:nvPr/>
        </p:nvSpPr>
        <p:spPr>
          <a:xfrm>
            <a:off x="320040" y="1417320"/>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417320"/>
            <a:ext cx="457200" cy="475488"/>
          </a:xfrm>
          <a:prstGeom prst="rect">
            <a:avLst/>
          </a:prstGeom>
          <a:noFill/>
        </p:spPr>
        <p:txBody>
          <a:bodyPr wrap="square">
            <a:spAutoFit/>
          </a:bodyPr>
          <a:lstStyle/>
          <a:p>
            <a:pPr algn="ctr"/>
            <a:r>
              <a:rPr sz="1500" b="1">
                <a:solidFill>
                  <a:srgbClr val="1E1E2E"/>
                </a:solidFill>
              </a:rPr>
              <a:t>①</a:t>
            </a:r>
          </a:p>
        </p:txBody>
      </p:sp>
      <p:sp>
        <p:nvSpPr>
          <p:cNvPr id="7" name="TextBox 6"/>
          <p:cNvSpPr txBox="1"/>
          <p:nvPr/>
        </p:nvSpPr>
        <p:spPr>
          <a:xfrm>
            <a:off x="914400" y="1417320"/>
            <a:ext cx="3200400" cy="475488"/>
          </a:xfrm>
          <a:prstGeom prst="rect">
            <a:avLst/>
          </a:prstGeom>
          <a:noFill/>
        </p:spPr>
        <p:txBody>
          <a:bodyPr wrap="square">
            <a:spAutoFit/>
          </a:bodyPr>
          <a:lstStyle/>
          <a:p>
            <a:pPr algn="l"/>
            <a:r>
              <a:rPr sz="1500" b="1">
                <a:solidFill>
                  <a:srgbClr val="F9E2AF"/>
                </a:solidFill>
              </a:rPr>
              <a:t>Quantization Scheme</a:t>
            </a:r>
          </a:p>
        </p:txBody>
      </p:sp>
      <p:sp>
        <p:nvSpPr>
          <p:cNvPr id="8" name="TextBox 7"/>
          <p:cNvSpPr txBox="1"/>
          <p:nvPr/>
        </p:nvSpPr>
        <p:spPr>
          <a:xfrm>
            <a:off x="4206240" y="1417320"/>
            <a:ext cx="7680960" cy="475488"/>
          </a:xfrm>
          <a:prstGeom prst="rect">
            <a:avLst/>
          </a:prstGeom>
          <a:noFill/>
        </p:spPr>
        <p:txBody>
          <a:bodyPr wrap="square">
            <a:spAutoFit/>
          </a:bodyPr>
          <a:lstStyle/>
          <a:p>
            <a:pPr algn="l"/>
            <a:r>
              <a:rPr sz="1400" b="0">
                <a:solidFill>
                  <a:srgbClr val="CDD6F4"/>
                </a:solidFill>
              </a:rPr>
              <a:t>ap_fixed&lt;16,7&gt; emulated in PyTorch with clamp + round</a:t>
            </a:r>
          </a:p>
        </p:txBody>
      </p:sp>
      <p:sp>
        <p:nvSpPr>
          <p:cNvPr id="9" name="Rectangle 8"/>
          <p:cNvSpPr/>
          <p:nvPr/>
        </p:nvSpPr>
        <p:spPr>
          <a:xfrm>
            <a:off x="320040" y="2121408"/>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121408"/>
            <a:ext cx="457200" cy="475488"/>
          </a:xfrm>
          <a:prstGeom prst="rect">
            <a:avLst/>
          </a:prstGeom>
          <a:noFill/>
        </p:spPr>
        <p:txBody>
          <a:bodyPr wrap="square">
            <a:spAutoFit/>
          </a:bodyPr>
          <a:lstStyle/>
          <a:p>
            <a:pPr algn="ctr"/>
            <a:r>
              <a:rPr sz="1500" b="1">
                <a:solidFill>
                  <a:srgbClr val="1E1E2E"/>
                </a:solidFill>
              </a:rPr>
              <a:t>②</a:t>
            </a:r>
          </a:p>
        </p:txBody>
      </p:sp>
      <p:sp>
        <p:nvSpPr>
          <p:cNvPr id="11" name="TextBox 10"/>
          <p:cNvSpPr txBox="1"/>
          <p:nvPr/>
        </p:nvSpPr>
        <p:spPr>
          <a:xfrm>
            <a:off x="914400" y="2121408"/>
            <a:ext cx="3200400" cy="475488"/>
          </a:xfrm>
          <a:prstGeom prst="rect">
            <a:avLst/>
          </a:prstGeom>
          <a:noFill/>
        </p:spPr>
        <p:txBody>
          <a:bodyPr wrap="square">
            <a:spAutoFit/>
          </a:bodyPr>
          <a:lstStyle/>
          <a:p>
            <a:pPr algn="l"/>
            <a:r>
              <a:rPr sz="1500" b="1">
                <a:solidFill>
                  <a:srgbClr val="F9E2AF"/>
                </a:solidFill>
              </a:rPr>
              <a:t>Quantized CNN Model</a:t>
            </a:r>
          </a:p>
        </p:txBody>
      </p:sp>
      <p:sp>
        <p:nvSpPr>
          <p:cNvPr id="12" name="TextBox 11"/>
          <p:cNvSpPr txBox="1"/>
          <p:nvPr/>
        </p:nvSpPr>
        <p:spPr>
          <a:xfrm>
            <a:off x="4206240" y="2121408"/>
            <a:ext cx="7680960" cy="475488"/>
          </a:xfrm>
          <a:prstGeom prst="rect">
            <a:avLst/>
          </a:prstGeom>
          <a:noFill/>
        </p:spPr>
        <p:txBody>
          <a:bodyPr wrap="square">
            <a:spAutoFit/>
          </a:bodyPr>
          <a:lstStyle/>
          <a:p>
            <a:pPr algn="l"/>
            <a:r>
              <a:rPr sz="1400" b="0">
                <a:solidFill>
                  <a:srgbClr val="CDD6F4"/>
                </a:solidFill>
              </a:rPr>
              <a:t>QUANTIZED_MNISTCNN — full 3-Conv + Pool + FC, QAT throughout</a:t>
            </a:r>
          </a:p>
        </p:txBody>
      </p:sp>
      <p:sp>
        <p:nvSpPr>
          <p:cNvPr id="13" name="Rectangle 12"/>
          <p:cNvSpPr/>
          <p:nvPr/>
        </p:nvSpPr>
        <p:spPr>
          <a:xfrm>
            <a:off x="320040" y="2825496"/>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825496"/>
            <a:ext cx="457200" cy="475488"/>
          </a:xfrm>
          <a:prstGeom prst="rect">
            <a:avLst/>
          </a:prstGeom>
          <a:noFill/>
        </p:spPr>
        <p:txBody>
          <a:bodyPr wrap="square">
            <a:spAutoFit/>
          </a:bodyPr>
          <a:lstStyle/>
          <a:p>
            <a:pPr algn="ctr"/>
            <a:r>
              <a:rPr sz="1500" b="1">
                <a:solidFill>
                  <a:srgbClr val="1E1E2E"/>
                </a:solidFill>
              </a:rPr>
              <a:t>③</a:t>
            </a:r>
          </a:p>
        </p:txBody>
      </p:sp>
      <p:sp>
        <p:nvSpPr>
          <p:cNvPr id="15" name="TextBox 14"/>
          <p:cNvSpPr txBox="1"/>
          <p:nvPr/>
        </p:nvSpPr>
        <p:spPr>
          <a:xfrm>
            <a:off x="914400" y="2825496"/>
            <a:ext cx="3200400" cy="475488"/>
          </a:xfrm>
          <a:prstGeom prst="rect">
            <a:avLst/>
          </a:prstGeom>
          <a:noFill/>
        </p:spPr>
        <p:txBody>
          <a:bodyPr wrap="square">
            <a:spAutoFit/>
          </a:bodyPr>
          <a:lstStyle/>
          <a:p>
            <a:pPr algn="l"/>
            <a:r>
              <a:rPr sz="1500" b="1">
                <a:solidFill>
                  <a:srgbClr val="F9E2AF"/>
                </a:solidFill>
              </a:rPr>
              <a:t>Training &amp; Evaluation</a:t>
            </a:r>
          </a:p>
        </p:txBody>
      </p:sp>
      <p:sp>
        <p:nvSpPr>
          <p:cNvPr id="16" name="TextBox 15"/>
          <p:cNvSpPr txBox="1"/>
          <p:nvPr/>
        </p:nvSpPr>
        <p:spPr>
          <a:xfrm>
            <a:off x="4206240" y="2825496"/>
            <a:ext cx="7680960" cy="475488"/>
          </a:xfrm>
          <a:prstGeom prst="rect">
            <a:avLst/>
          </a:prstGeom>
          <a:noFill/>
        </p:spPr>
        <p:txBody>
          <a:bodyPr wrap="square">
            <a:spAutoFit/>
          </a:bodyPr>
          <a:lstStyle/>
          <a:p>
            <a:pPr algn="l"/>
            <a:r>
              <a:rPr sz="1400" b="0">
                <a:solidFill>
                  <a:srgbClr val="CDD6F4"/>
                </a:solidFill>
              </a:rPr>
              <a:t>5 epochs · Adam · batch 256 · test acc peaked at 98.92%</a:t>
            </a:r>
          </a:p>
        </p:txBody>
      </p:sp>
      <p:sp>
        <p:nvSpPr>
          <p:cNvPr id="17" name="Rectangle 16"/>
          <p:cNvSpPr/>
          <p:nvPr/>
        </p:nvSpPr>
        <p:spPr>
          <a:xfrm>
            <a:off x="320040" y="3529584"/>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529584"/>
            <a:ext cx="457200" cy="475488"/>
          </a:xfrm>
          <a:prstGeom prst="rect">
            <a:avLst/>
          </a:prstGeom>
          <a:noFill/>
        </p:spPr>
        <p:txBody>
          <a:bodyPr wrap="square">
            <a:spAutoFit/>
          </a:bodyPr>
          <a:lstStyle/>
          <a:p>
            <a:pPr algn="ctr"/>
            <a:r>
              <a:rPr sz="1500" b="1">
                <a:solidFill>
                  <a:srgbClr val="1E1E2E"/>
                </a:solidFill>
              </a:rPr>
              <a:t>④</a:t>
            </a:r>
          </a:p>
        </p:txBody>
      </p:sp>
      <p:sp>
        <p:nvSpPr>
          <p:cNvPr id="19" name="TextBox 18"/>
          <p:cNvSpPr txBox="1"/>
          <p:nvPr/>
        </p:nvSpPr>
        <p:spPr>
          <a:xfrm>
            <a:off x="914400" y="3529584"/>
            <a:ext cx="3200400" cy="475488"/>
          </a:xfrm>
          <a:prstGeom prst="rect">
            <a:avLst/>
          </a:prstGeom>
          <a:noFill/>
        </p:spPr>
        <p:txBody>
          <a:bodyPr wrap="square">
            <a:spAutoFit/>
          </a:bodyPr>
          <a:lstStyle/>
          <a:p>
            <a:pPr algn="l"/>
            <a:r>
              <a:rPr sz="1500" b="1">
                <a:solidFill>
                  <a:srgbClr val="F9E2AF"/>
                </a:solidFill>
              </a:rPr>
              <a:t>Best Checkpoint</a:t>
            </a:r>
          </a:p>
        </p:txBody>
      </p:sp>
      <p:sp>
        <p:nvSpPr>
          <p:cNvPr id="20" name="TextBox 19"/>
          <p:cNvSpPr txBox="1"/>
          <p:nvPr/>
        </p:nvSpPr>
        <p:spPr>
          <a:xfrm>
            <a:off x="4206240" y="3529584"/>
            <a:ext cx="7680960" cy="475488"/>
          </a:xfrm>
          <a:prstGeom prst="rect">
            <a:avLst/>
          </a:prstGeom>
          <a:noFill/>
        </p:spPr>
        <p:txBody>
          <a:bodyPr wrap="square">
            <a:spAutoFit/>
          </a:bodyPr>
          <a:lstStyle/>
          <a:p>
            <a:pPr algn="l"/>
            <a:r>
              <a:rPr sz="1400" b="0">
                <a:solidFill>
                  <a:srgbClr val="CDD6F4"/>
                </a:solidFill>
              </a:rPr>
              <a:t>QUANTIZED_MNISTCNN-2026-05-19-00-18-25.pth · full-set acc 99.36%</a:t>
            </a:r>
          </a:p>
        </p:txBody>
      </p:sp>
      <p:sp>
        <p:nvSpPr>
          <p:cNvPr id="21" name="Rectangle 20"/>
          <p:cNvSpPr/>
          <p:nvPr/>
        </p:nvSpPr>
        <p:spPr>
          <a:xfrm>
            <a:off x="320040" y="4233672"/>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4233672"/>
            <a:ext cx="457200" cy="475488"/>
          </a:xfrm>
          <a:prstGeom prst="rect">
            <a:avLst/>
          </a:prstGeom>
          <a:noFill/>
        </p:spPr>
        <p:txBody>
          <a:bodyPr wrap="square">
            <a:spAutoFit/>
          </a:bodyPr>
          <a:lstStyle/>
          <a:p>
            <a:pPr algn="ctr"/>
            <a:r>
              <a:rPr sz="1500" b="1">
                <a:solidFill>
                  <a:srgbClr val="1E1E2E"/>
                </a:solidFill>
              </a:rPr>
              <a:t>⑤</a:t>
            </a:r>
          </a:p>
        </p:txBody>
      </p:sp>
      <p:sp>
        <p:nvSpPr>
          <p:cNvPr id="23" name="TextBox 22"/>
          <p:cNvSpPr txBox="1"/>
          <p:nvPr/>
        </p:nvSpPr>
        <p:spPr>
          <a:xfrm>
            <a:off x="914400" y="4233672"/>
            <a:ext cx="3200400" cy="475488"/>
          </a:xfrm>
          <a:prstGeom prst="rect">
            <a:avLst/>
          </a:prstGeom>
          <a:noFill/>
        </p:spPr>
        <p:txBody>
          <a:bodyPr wrap="square">
            <a:spAutoFit/>
          </a:bodyPr>
          <a:lstStyle/>
          <a:p>
            <a:pPr algn="l"/>
            <a:r>
              <a:rPr sz="1500" b="1">
                <a:solidFill>
                  <a:srgbClr val="F9E2AF"/>
                </a:solidFill>
              </a:rPr>
              <a:t>weights.h Export</a:t>
            </a:r>
          </a:p>
        </p:txBody>
      </p:sp>
      <p:sp>
        <p:nvSpPr>
          <p:cNvPr id="24" name="TextBox 23"/>
          <p:cNvSpPr txBox="1"/>
          <p:nvPr/>
        </p:nvSpPr>
        <p:spPr>
          <a:xfrm>
            <a:off x="4206240" y="4233672"/>
            <a:ext cx="7680960" cy="475488"/>
          </a:xfrm>
          <a:prstGeom prst="rect">
            <a:avLst/>
          </a:prstGeom>
          <a:noFill/>
        </p:spPr>
        <p:txBody>
          <a:bodyPr wrap="square">
            <a:spAutoFit/>
          </a:bodyPr>
          <a:lstStyle/>
          <a:p>
            <a:pPr algn="l"/>
            <a:r>
              <a:rPr sz="1400" b="0">
                <a:solidFill>
                  <a:srgbClr val="CDD6F4"/>
                </a:solidFill>
              </a:rPr>
              <a:t>All 8 tensors snapped to fixed-point grid, timestamped C header</a:t>
            </a:r>
          </a:p>
        </p:txBody>
      </p:sp>
      <p:sp>
        <p:nvSpPr>
          <p:cNvPr id="25" name="Rectangle 24"/>
          <p:cNvSpPr/>
          <p:nvPr/>
        </p:nvSpPr>
        <p:spPr>
          <a:xfrm>
            <a:off x="320040" y="4937760"/>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4937760"/>
            <a:ext cx="457200" cy="475488"/>
          </a:xfrm>
          <a:prstGeom prst="rect">
            <a:avLst/>
          </a:prstGeom>
          <a:noFill/>
        </p:spPr>
        <p:txBody>
          <a:bodyPr wrap="square">
            <a:spAutoFit/>
          </a:bodyPr>
          <a:lstStyle/>
          <a:p>
            <a:pPr algn="ctr"/>
            <a:r>
              <a:rPr sz="1500" b="1">
                <a:solidFill>
                  <a:srgbClr val="1E1E2E"/>
                </a:solidFill>
              </a:rPr>
              <a:t>⑥</a:t>
            </a:r>
          </a:p>
        </p:txBody>
      </p:sp>
      <p:sp>
        <p:nvSpPr>
          <p:cNvPr id="27" name="TextBox 26"/>
          <p:cNvSpPr txBox="1"/>
          <p:nvPr/>
        </p:nvSpPr>
        <p:spPr>
          <a:xfrm>
            <a:off x="914400" y="4937760"/>
            <a:ext cx="3200400" cy="475488"/>
          </a:xfrm>
          <a:prstGeom prst="rect">
            <a:avLst/>
          </a:prstGeom>
          <a:noFill/>
        </p:spPr>
        <p:txBody>
          <a:bodyPr wrap="square">
            <a:spAutoFit/>
          </a:bodyPr>
          <a:lstStyle/>
          <a:p>
            <a:pPr algn="l"/>
            <a:r>
              <a:rPr sz="1500" b="1">
                <a:solidFill>
                  <a:srgbClr val="F9E2AF"/>
                </a:solidFill>
              </a:rPr>
              <a:t>images.h Export</a:t>
            </a:r>
          </a:p>
        </p:txBody>
      </p:sp>
      <p:sp>
        <p:nvSpPr>
          <p:cNvPr id="28" name="TextBox 27"/>
          <p:cNvSpPr txBox="1"/>
          <p:nvPr/>
        </p:nvSpPr>
        <p:spPr>
          <a:xfrm>
            <a:off x="4206240" y="4937760"/>
            <a:ext cx="7680960" cy="475488"/>
          </a:xfrm>
          <a:prstGeom prst="rect">
            <a:avLst/>
          </a:prstGeom>
          <a:noFill/>
        </p:spPr>
        <p:txBody>
          <a:bodyPr wrap="square">
            <a:spAutoFit/>
          </a:bodyPr>
          <a:lstStyle/>
          <a:p>
            <a:pPr algn="l"/>
            <a:r>
              <a:rPr sz="1400" b="0">
                <a:solidFill>
                  <a:srgbClr val="CDD6F4"/>
                </a:solidFill>
              </a:rPr>
              <a:t>280 images, shape [280][1][28][28], float C header</a:t>
            </a:r>
          </a:p>
        </p:txBody>
      </p:sp>
      <p:sp>
        <p:nvSpPr>
          <p:cNvPr id="29" name="Rectangle 28"/>
          <p:cNvSpPr/>
          <p:nvPr/>
        </p:nvSpPr>
        <p:spPr>
          <a:xfrm>
            <a:off x="320040" y="5641848"/>
            <a:ext cx="457200" cy="475488"/>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5641848"/>
            <a:ext cx="457200" cy="475488"/>
          </a:xfrm>
          <a:prstGeom prst="rect">
            <a:avLst/>
          </a:prstGeom>
          <a:noFill/>
        </p:spPr>
        <p:txBody>
          <a:bodyPr wrap="square">
            <a:spAutoFit/>
          </a:bodyPr>
          <a:lstStyle/>
          <a:p>
            <a:pPr algn="ctr"/>
            <a:r>
              <a:rPr sz="1500" b="1">
                <a:solidFill>
                  <a:srgbClr val="1E1E2E"/>
                </a:solidFill>
              </a:rPr>
              <a:t>⑦</a:t>
            </a:r>
          </a:p>
        </p:txBody>
      </p:sp>
      <p:sp>
        <p:nvSpPr>
          <p:cNvPr id="31" name="TextBox 30"/>
          <p:cNvSpPr txBox="1"/>
          <p:nvPr/>
        </p:nvSpPr>
        <p:spPr>
          <a:xfrm>
            <a:off x="914400" y="5641848"/>
            <a:ext cx="3200400" cy="475488"/>
          </a:xfrm>
          <a:prstGeom prst="rect">
            <a:avLst/>
          </a:prstGeom>
          <a:noFill/>
        </p:spPr>
        <p:txBody>
          <a:bodyPr wrap="square">
            <a:spAutoFit/>
          </a:bodyPr>
          <a:lstStyle/>
          <a:p>
            <a:pPr algn="l"/>
            <a:r>
              <a:rPr sz="1500" b="1">
                <a:solidFill>
                  <a:srgbClr val="F9E2AF"/>
                </a:solidFill>
              </a:rPr>
              <a:t>MNIST .npy Generation</a:t>
            </a:r>
          </a:p>
        </p:txBody>
      </p:sp>
      <p:sp>
        <p:nvSpPr>
          <p:cNvPr id="32" name="TextBox 31"/>
          <p:cNvSpPr txBox="1"/>
          <p:nvPr/>
        </p:nvSpPr>
        <p:spPr>
          <a:xfrm>
            <a:off x="4206240" y="5641848"/>
            <a:ext cx="7680960" cy="475488"/>
          </a:xfrm>
          <a:prstGeom prst="rect">
            <a:avLst/>
          </a:prstGeom>
          <a:noFill/>
        </p:spPr>
        <p:txBody>
          <a:bodyPr wrap="square">
            <a:spAutoFit/>
          </a:bodyPr>
          <a:lstStyle/>
          <a:p>
            <a:pPr algn="l"/>
            <a:r>
              <a:rPr sz="1400" b="0">
                <a:solidFill>
                  <a:srgbClr val="CDD6F4"/>
                </a:solidFill>
              </a:rPr>
              <a:t>70 k images + labels digit-sorted, ready for co-sim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CNN Architecture</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Spec-compliant topology — unchanged from project brief</a:t>
            </a:r>
          </a:p>
        </p:txBody>
      </p:sp>
      <p:sp>
        <p:nvSpPr>
          <p:cNvPr id="5" name="Rectangle 4"/>
          <p:cNvSpPr/>
          <p:nvPr/>
        </p:nvSpPr>
        <p:spPr>
          <a:xfrm>
            <a:off x="33375" y="1920240"/>
            <a:ext cx="1371600" cy="1188720"/>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375" y="1920240"/>
            <a:ext cx="1371600" cy="1188720"/>
          </a:xfrm>
          <a:prstGeom prst="rect">
            <a:avLst/>
          </a:prstGeom>
          <a:noFill/>
        </p:spPr>
        <p:txBody>
          <a:bodyPr wrap="square">
            <a:spAutoFit/>
          </a:bodyPr>
          <a:lstStyle/>
          <a:p>
            <a:pPr algn="ctr"/>
            <a:r>
              <a:rPr sz="1100" b="0">
                <a:solidFill>
                  <a:srgbClr val="FFFFFF"/>
                </a:solidFill>
              </a:rPr>
              <a:t>Input
1×28×28</a:t>
            </a:r>
          </a:p>
        </p:txBody>
      </p:sp>
      <p:sp>
        <p:nvSpPr>
          <p:cNvPr id="7" name="TextBox 6"/>
          <p:cNvSpPr txBox="1"/>
          <p:nvPr/>
        </p:nvSpPr>
        <p:spPr>
          <a:xfrm>
            <a:off x="1404975" y="2331720"/>
            <a:ext cx="210312" cy="411480"/>
          </a:xfrm>
          <a:prstGeom prst="rect">
            <a:avLst/>
          </a:prstGeom>
          <a:noFill/>
        </p:spPr>
        <p:txBody>
          <a:bodyPr wrap="square">
            <a:spAutoFit/>
          </a:bodyPr>
          <a:lstStyle/>
          <a:p>
            <a:pPr algn="ctr"/>
            <a:r>
              <a:rPr sz="1800" b="1">
                <a:solidFill>
                  <a:srgbClr val="74C7EC"/>
                </a:solidFill>
              </a:rPr>
              <a:t>→</a:t>
            </a:r>
          </a:p>
        </p:txBody>
      </p:sp>
      <p:sp>
        <p:nvSpPr>
          <p:cNvPr id="8" name="Rectangle 7"/>
          <p:cNvSpPr/>
          <p:nvPr/>
        </p:nvSpPr>
        <p:spPr>
          <a:xfrm>
            <a:off x="1569567" y="1920240"/>
            <a:ext cx="1371600" cy="118872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69567" y="1920240"/>
            <a:ext cx="1371600" cy="1188720"/>
          </a:xfrm>
          <a:prstGeom prst="rect">
            <a:avLst/>
          </a:prstGeom>
          <a:noFill/>
        </p:spPr>
        <p:txBody>
          <a:bodyPr wrap="square">
            <a:spAutoFit/>
          </a:bodyPr>
          <a:lstStyle/>
          <a:p>
            <a:pPr algn="ctr"/>
            <a:r>
              <a:rPr sz="1100" b="0">
                <a:solidFill>
                  <a:srgbClr val="1E1E2E"/>
                </a:solidFill>
              </a:rPr>
              <a:t>Conv1
1→16, k=3
→16×26×26</a:t>
            </a:r>
          </a:p>
        </p:txBody>
      </p:sp>
      <p:sp>
        <p:nvSpPr>
          <p:cNvPr id="10" name="TextBox 9"/>
          <p:cNvSpPr txBox="1"/>
          <p:nvPr/>
        </p:nvSpPr>
        <p:spPr>
          <a:xfrm>
            <a:off x="2941167" y="2331720"/>
            <a:ext cx="210312" cy="411480"/>
          </a:xfrm>
          <a:prstGeom prst="rect">
            <a:avLst/>
          </a:prstGeom>
          <a:noFill/>
        </p:spPr>
        <p:txBody>
          <a:bodyPr wrap="square">
            <a:spAutoFit/>
          </a:bodyPr>
          <a:lstStyle/>
          <a:p>
            <a:pPr algn="ctr"/>
            <a:r>
              <a:rPr sz="1800" b="1">
                <a:solidFill>
                  <a:srgbClr val="74C7EC"/>
                </a:solidFill>
              </a:rPr>
              <a:t>→</a:t>
            </a:r>
          </a:p>
        </p:txBody>
      </p:sp>
      <p:sp>
        <p:nvSpPr>
          <p:cNvPr id="11" name="Rectangle 10"/>
          <p:cNvSpPr/>
          <p:nvPr/>
        </p:nvSpPr>
        <p:spPr>
          <a:xfrm>
            <a:off x="3105759" y="1920240"/>
            <a:ext cx="1371600" cy="118872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5759" y="1920240"/>
            <a:ext cx="1371600" cy="1188720"/>
          </a:xfrm>
          <a:prstGeom prst="rect">
            <a:avLst/>
          </a:prstGeom>
          <a:noFill/>
        </p:spPr>
        <p:txBody>
          <a:bodyPr wrap="square">
            <a:spAutoFit/>
          </a:bodyPr>
          <a:lstStyle/>
          <a:p>
            <a:pPr algn="ctr"/>
            <a:r>
              <a:rPr sz="1100" b="0">
                <a:solidFill>
                  <a:srgbClr val="1E1E2E"/>
                </a:solidFill>
              </a:rPr>
              <a:t>Conv2
16→32, k=3
→32×24×24</a:t>
            </a:r>
          </a:p>
        </p:txBody>
      </p:sp>
      <p:sp>
        <p:nvSpPr>
          <p:cNvPr id="13" name="TextBox 12"/>
          <p:cNvSpPr txBox="1"/>
          <p:nvPr/>
        </p:nvSpPr>
        <p:spPr>
          <a:xfrm>
            <a:off x="4477359" y="2331720"/>
            <a:ext cx="210312" cy="411480"/>
          </a:xfrm>
          <a:prstGeom prst="rect">
            <a:avLst/>
          </a:prstGeom>
          <a:noFill/>
        </p:spPr>
        <p:txBody>
          <a:bodyPr wrap="square">
            <a:spAutoFit/>
          </a:bodyPr>
          <a:lstStyle/>
          <a:p>
            <a:pPr algn="ctr"/>
            <a:r>
              <a:rPr sz="1800" b="1">
                <a:solidFill>
                  <a:srgbClr val="74C7EC"/>
                </a:solidFill>
              </a:rPr>
              <a:t>→</a:t>
            </a:r>
          </a:p>
        </p:txBody>
      </p:sp>
      <p:sp>
        <p:nvSpPr>
          <p:cNvPr id="14" name="Rectangle 13"/>
          <p:cNvSpPr/>
          <p:nvPr/>
        </p:nvSpPr>
        <p:spPr>
          <a:xfrm>
            <a:off x="4641951" y="1920240"/>
            <a:ext cx="1371600" cy="118872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1951" y="1920240"/>
            <a:ext cx="1371600" cy="1188720"/>
          </a:xfrm>
          <a:prstGeom prst="rect">
            <a:avLst/>
          </a:prstGeom>
          <a:noFill/>
        </p:spPr>
        <p:txBody>
          <a:bodyPr wrap="square">
            <a:spAutoFit/>
          </a:bodyPr>
          <a:lstStyle/>
          <a:p>
            <a:pPr algn="ctr"/>
            <a:r>
              <a:rPr sz="1100" b="0">
                <a:solidFill>
                  <a:srgbClr val="1E1E2E"/>
                </a:solidFill>
              </a:rPr>
              <a:t>Conv3
32→32, k=3
→32×22×22</a:t>
            </a:r>
          </a:p>
        </p:txBody>
      </p:sp>
      <p:sp>
        <p:nvSpPr>
          <p:cNvPr id="16" name="TextBox 15"/>
          <p:cNvSpPr txBox="1"/>
          <p:nvPr/>
        </p:nvSpPr>
        <p:spPr>
          <a:xfrm>
            <a:off x="6013551" y="2331720"/>
            <a:ext cx="210312" cy="411480"/>
          </a:xfrm>
          <a:prstGeom prst="rect">
            <a:avLst/>
          </a:prstGeom>
          <a:noFill/>
        </p:spPr>
        <p:txBody>
          <a:bodyPr wrap="square">
            <a:spAutoFit/>
          </a:bodyPr>
          <a:lstStyle/>
          <a:p>
            <a:pPr algn="ctr"/>
            <a:r>
              <a:rPr sz="1800" b="1">
                <a:solidFill>
                  <a:srgbClr val="74C7EC"/>
                </a:solidFill>
              </a:rPr>
              <a:t>→</a:t>
            </a:r>
          </a:p>
        </p:txBody>
      </p:sp>
      <p:sp>
        <p:nvSpPr>
          <p:cNvPr id="17" name="Rectangle 16"/>
          <p:cNvSpPr/>
          <p:nvPr/>
        </p:nvSpPr>
        <p:spPr>
          <a:xfrm>
            <a:off x="6178143" y="1920240"/>
            <a:ext cx="1371600" cy="118872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8143" y="1920240"/>
            <a:ext cx="1371600" cy="1188720"/>
          </a:xfrm>
          <a:prstGeom prst="rect">
            <a:avLst/>
          </a:prstGeom>
          <a:noFill/>
        </p:spPr>
        <p:txBody>
          <a:bodyPr wrap="square">
            <a:spAutoFit/>
          </a:bodyPr>
          <a:lstStyle/>
          <a:p>
            <a:pPr algn="ctr"/>
            <a:r>
              <a:rPr sz="1100" b="0">
                <a:solidFill>
                  <a:srgbClr val="1E1E2E"/>
                </a:solidFill>
              </a:rPr>
              <a:t>MaxPool
2×2
→32×11×11</a:t>
            </a:r>
          </a:p>
        </p:txBody>
      </p:sp>
      <p:sp>
        <p:nvSpPr>
          <p:cNvPr id="19" name="TextBox 18"/>
          <p:cNvSpPr txBox="1"/>
          <p:nvPr/>
        </p:nvSpPr>
        <p:spPr>
          <a:xfrm>
            <a:off x="7549743" y="2331720"/>
            <a:ext cx="210312" cy="411480"/>
          </a:xfrm>
          <a:prstGeom prst="rect">
            <a:avLst/>
          </a:prstGeom>
          <a:noFill/>
        </p:spPr>
        <p:txBody>
          <a:bodyPr wrap="square">
            <a:spAutoFit/>
          </a:bodyPr>
          <a:lstStyle/>
          <a:p>
            <a:pPr algn="ctr"/>
            <a:r>
              <a:rPr sz="1800" b="1">
                <a:solidFill>
                  <a:srgbClr val="74C7EC"/>
                </a:solidFill>
              </a:rPr>
              <a:t>→</a:t>
            </a:r>
          </a:p>
        </p:txBody>
      </p:sp>
      <p:sp>
        <p:nvSpPr>
          <p:cNvPr id="20" name="Rectangle 19"/>
          <p:cNvSpPr/>
          <p:nvPr/>
        </p:nvSpPr>
        <p:spPr>
          <a:xfrm>
            <a:off x="7714335" y="1920240"/>
            <a:ext cx="1371600" cy="118872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14335" y="1920240"/>
            <a:ext cx="1371600" cy="1188720"/>
          </a:xfrm>
          <a:prstGeom prst="rect">
            <a:avLst/>
          </a:prstGeom>
          <a:noFill/>
        </p:spPr>
        <p:txBody>
          <a:bodyPr wrap="square">
            <a:spAutoFit/>
          </a:bodyPr>
          <a:lstStyle/>
          <a:p>
            <a:pPr algn="ctr"/>
            <a:r>
              <a:rPr sz="1100" b="0">
                <a:solidFill>
                  <a:srgbClr val="FFFFFF"/>
                </a:solidFill>
              </a:rPr>
              <a:t>Flatten
3 872</a:t>
            </a:r>
          </a:p>
        </p:txBody>
      </p:sp>
      <p:sp>
        <p:nvSpPr>
          <p:cNvPr id="22" name="TextBox 21"/>
          <p:cNvSpPr txBox="1"/>
          <p:nvPr/>
        </p:nvSpPr>
        <p:spPr>
          <a:xfrm>
            <a:off x="9085935" y="2331720"/>
            <a:ext cx="210312" cy="411480"/>
          </a:xfrm>
          <a:prstGeom prst="rect">
            <a:avLst/>
          </a:prstGeom>
          <a:noFill/>
        </p:spPr>
        <p:txBody>
          <a:bodyPr wrap="square">
            <a:spAutoFit/>
          </a:bodyPr>
          <a:lstStyle/>
          <a:p>
            <a:pPr algn="ctr"/>
            <a:r>
              <a:rPr sz="1800" b="1">
                <a:solidFill>
                  <a:srgbClr val="74C7EC"/>
                </a:solidFill>
              </a:rPr>
              <a:t>→</a:t>
            </a:r>
          </a:p>
        </p:txBody>
      </p:sp>
      <p:sp>
        <p:nvSpPr>
          <p:cNvPr id="23" name="Rectangle 22"/>
          <p:cNvSpPr/>
          <p:nvPr/>
        </p:nvSpPr>
        <p:spPr>
          <a:xfrm>
            <a:off x="9250527" y="1920240"/>
            <a:ext cx="1371600" cy="118872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50527" y="1920240"/>
            <a:ext cx="1371600" cy="1188720"/>
          </a:xfrm>
          <a:prstGeom prst="rect">
            <a:avLst/>
          </a:prstGeom>
          <a:noFill/>
        </p:spPr>
        <p:txBody>
          <a:bodyPr wrap="square">
            <a:spAutoFit/>
          </a:bodyPr>
          <a:lstStyle/>
          <a:p>
            <a:pPr algn="ctr"/>
            <a:r>
              <a:rPr sz="1100" b="0">
                <a:solidFill>
                  <a:srgbClr val="1E1E2E"/>
                </a:solidFill>
              </a:rPr>
              <a:t>FC
3872→10</a:t>
            </a:r>
          </a:p>
        </p:txBody>
      </p:sp>
      <p:sp>
        <p:nvSpPr>
          <p:cNvPr id="25" name="TextBox 24"/>
          <p:cNvSpPr txBox="1"/>
          <p:nvPr/>
        </p:nvSpPr>
        <p:spPr>
          <a:xfrm>
            <a:off x="10622127" y="2331720"/>
            <a:ext cx="210312" cy="411480"/>
          </a:xfrm>
          <a:prstGeom prst="rect">
            <a:avLst/>
          </a:prstGeom>
          <a:noFill/>
        </p:spPr>
        <p:txBody>
          <a:bodyPr wrap="square">
            <a:spAutoFit/>
          </a:bodyPr>
          <a:lstStyle/>
          <a:p>
            <a:pPr algn="ctr"/>
            <a:r>
              <a:rPr sz="1800" b="1">
                <a:solidFill>
                  <a:srgbClr val="74C7EC"/>
                </a:solidFill>
              </a:rPr>
              <a:t>→</a:t>
            </a:r>
          </a:p>
        </p:txBody>
      </p:sp>
      <p:sp>
        <p:nvSpPr>
          <p:cNvPr id="26" name="Rectangle 25"/>
          <p:cNvSpPr/>
          <p:nvPr/>
        </p:nvSpPr>
        <p:spPr>
          <a:xfrm>
            <a:off x="10786719" y="1920240"/>
            <a:ext cx="1371600" cy="1188720"/>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6719" y="1920240"/>
            <a:ext cx="1371600" cy="1188720"/>
          </a:xfrm>
          <a:prstGeom prst="rect">
            <a:avLst/>
          </a:prstGeom>
          <a:noFill/>
        </p:spPr>
        <p:txBody>
          <a:bodyPr wrap="square">
            <a:spAutoFit/>
          </a:bodyPr>
          <a:lstStyle/>
          <a:p>
            <a:pPr algn="ctr"/>
            <a:r>
              <a:rPr sz="1100" b="0">
                <a:solidFill>
                  <a:srgbClr val="FFFFFF"/>
                </a:solidFill>
              </a:rPr>
              <a:t>Output
Label</a:t>
            </a:r>
          </a:p>
        </p:txBody>
      </p:sp>
      <p:sp>
        <p:nvSpPr>
          <p:cNvPr id="28" name="Rectangle 27"/>
          <p:cNvSpPr/>
          <p:nvPr/>
        </p:nvSpPr>
        <p:spPr>
          <a:xfrm>
            <a:off x="536295" y="1572768"/>
            <a:ext cx="365760" cy="2743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6295" y="1572768"/>
            <a:ext cx="365760" cy="274320"/>
          </a:xfrm>
          <a:prstGeom prst="rect">
            <a:avLst/>
          </a:prstGeom>
          <a:noFill/>
        </p:spPr>
        <p:txBody>
          <a:bodyPr wrap="square">
            <a:spAutoFit/>
          </a:bodyPr>
          <a:lstStyle/>
          <a:p>
            <a:pPr algn="ctr"/>
            <a:r>
              <a:rPr sz="1000" b="1">
                <a:solidFill>
                  <a:srgbClr val="FFFFFF"/>
                </a:solidFill>
              </a:rPr>
              <a:t>Q</a:t>
            </a:r>
          </a:p>
        </p:txBody>
      </p:sp>
      <p:sp>
        <p:nvSpPr>
          <p:cNvPr id="30" name="Rectangle 29"/>
          <p:cNvSpPr/>
          <p:nvPr/>
        </p:nvSpPr>
        <p:spPr>
          <a:xfrm>
            <a:off x="2072487" y="1572768"/>
            <a:ext cx="365760" cy="2743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72487" y="1572768"/>
            <a:ext cx="365760" cy="274320"/>
          </a:xfrm>
          <a:prstGeom prst="rect">
            <a:avLst/>
          </a:prstGeom>
          <a:noFill/>
        </p:spPr>
        <p:txBody>
          <a:bodyPr wrap="square">
            <a:spAutoFit/>
          </a:bodyPr>
          <a:lstStyle/>
          <a:p>
            <a:pPr algn="ctr"/>
            <a:r>
              <a:rPr sz="1000" b="1">
                <a:solidFill>
                  <a:srgbClr val="FFFFFF"/>
                </a:solidFill>
              </a:rPr>
              <a:t>Q</a:t>
            </a:r>
          </a:p>
        </p:txBody>
      </p:sp>
      <p:sp>
        <p:nvSpPr>
          <p:cNvPr id="32" name="Rectangle 31"/>
          <p:cNvSpPr/>
          <p:nvPr/>
        </p:nvSpPr>
        <p:spPr>
          <a:xfrm>
            <a:off x="3608679" y="1572768"/>
            <a:ext cx="365760" cy="2743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08679" y="1572768"/>
            <a:ext cx="365760" cy="274320"/>
          </a:xfrm>
          <a:prstGeom prst="rect">
            <a:avLst/>
          </a:prstGeom>
          <a:noFill/>
        </p:spPr>
        <p:txBody>
          <a:bodyPr wrap="square">
            <a:spAutoFit/>
          </a:bodyPr>
          <a:lstStyle/>
          <a:p>
            <a:pPr algn="ctr"/>
            <a:r>
              <a:rPr sz="1000" b="1">
                <a:solidFill>
                  <a:srgbClr val="FFFFFF"/>
                </a:solidFill>
              </a:rPr>
              <a:t>Q</a:t>
            </a:r>
          </a:p>
        </p:txBody>
      </p:sp>
      <p:sp>
        <p:nvSpPr>
          <p:cNvPr id="34" name="Rectangle 33"/>
          <p:cNvSpPr/>
          <p:nvPr/>
        </p:nvSpPr>
        <p:spPr>
          <a:xfrm>
            <a:off x="5144871" y="1572768"/>
            <a:ext cx="365760" cy="2743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44871" y="1572768"/>
            <a:ext cx="365760" cy="274320"/>
          </a:xfrm>
          <a:prstGeom prst="rect">
            <a:avLst/>
          </a:prstGeom>
          <a:noFill/>
        </p:spPr>
        <p:txBody>
          <a:bodyPr wrap="square">
            <a:spAutoFit/>
          </a:bodyPr>
          <a:lstStyle/>
          <a:p>
            <a:pPr algn="ctr"/>
            <a:r>
              <a:rPr sz="1000" b="1">
                <a:solidFill>
                  <a:srgbClr val="FFFFFF"/>
                </a:solidFill>
              </a:rPr>
              <a:t>Q</a:t>
            </a:r>
          </a:p>
        </p:txBody>
      </p:sp>
      <p:sp>
        <p:nvSpPr>
          <p:cNvPr id="36" name="Rectangle 35"/>
          <p:cNvSpPr/>
          <p:nvPr/>
        </p:nvSpPr>
        <p:spPr>
          <a:xfrm>
            <a:off x="6681063" y="1572768"/>
            <a:ext cx="365760" cy="27432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81063" y="1572768"/>
            <a:ext cx="365760" cy="274320"/>
          </a:xfrm>
          <a:prstGeom prst="rect">
            <a:avLst/>
          </a:prstGeom>
          <a:noFill/>
        </p:spPr>
        <p:txBody>
          <a:bodyPr wrap="square">
            <a:spAutoFit/>
          </a:bodyPr>
          <a:lstStyle/>
          <a:p>
            <a:pPr algn="ctr"/>
            <a:r>
              <a:rPr sz="1000" b="1">
                <a:solidFill>
                  <a:srgbClr val="FFFFFF"/>
                </a:solidFill>
              </a:rPr>
              <a:t>Q</a:t>
            </a:r>
          </a:p>
        </p:txBody>
      </p:sp>
      <p:sp>
        <p:nvSpPr>
          <p:cNvPr id="38" name="TextBox 37"/>
          <p:cNvSpPr txBox="1"/>
          <p:nvPr/>
        </p:nvSpPr>
        <p:spPr>
          <a:xfrm>
            <a:off x="457200" y="3337560"/>
            <a:ext cx="10972800" cy="320040"/>
          </a:xfrm>
          <a:prstGeom prst="rect">
            <a:avLst/>
          </a:prstGeom>
          <a:noFill/>
        </p:spPr>
        <p:txBody>
          <a:bodyPr wrap="square">
            <a:spAutoFit/>
          </a:bodyPr>
          <a:lstStyle/>
          <a:p>
            <a:pPr algn="ctr"/>
            <a:r>
              <a:rPr sz="1200" b="0">
                <a:solidFill>
                  <a:srgbClr val="585B70"/>
                </a:solidFill>
              </a:rPr>
              <a:t>Q = FixedPointQuantize inserted before ReLU at each layer output + after pool</a:t>
            </a:r>
          </a:p>
        </p:txBody>
      </p:sp>
      <p:graphicFrame>
        <p:nvGraphicFramePr>
          <p:cNvPr id="39" name="Table 38"/>
          <p:cNvGraphicFramePr>
            <a:graphicFrameLocks noGrp="1"/>
          </p:cNvGraphicFramePr>
          <p:nvPr/>
        </p:nvGraphicFramePr>
        <p:xfrm>
          <a:off x="274320" y="3794760"/>
          <a:ext cx="9777860" cy="2743200"/>
        </p:xfrm>
        <a:graphic>
          <a:graphicData uri="http://schemas.openxmlformats.org/drawingml/2006/table">
            <a:tbl>
              <a:tblPr firstRow="1" bandRow="1">
                <a:tableStyleId>{5C22544A-7EE6-4342-B048-85BDC9FD1C3A}</a:tableStyleId>
              </a:tblPr>
              <a:tblGrid>
                <a:gridCol w="1047628"/>
                <a:gridCol w="2095256"/>
                <a:gridCol w="1978853"/>
                <a:gridCol w="1862449"/>
                <a:gridCol w="1978853"/>
                <a:gridCol w="814821"/>
              </a:tblGrid>
              <a:tr h="457200">
                <a:tc>
                  <a:txBody>
                    <a:bodyPr/>
                    <a:lstStyle/>
                    <a:p>
                      <a:pPr algn="ctr"/>
                      <a:r>
                        <a:rPr sz="1400" b="1">
                          <a:solidFill>
                            <a:srgbClr val="1E1E2E"/>
                          </a:solidFill>
                        </a:rPr>
                        <a:t>Layer</a:t>
                      </a:r>
                    </a:p>
                  </a:txBody>
                  <a:tcPr>
                    <a:solidFill>
                      <a:srgbClr val="74C7EC"/>
                    </a:solidFill>
                  </a:tcPr>
                </a:tc>
                <a:tc>
                  <a:txBody>
                    <a:bodyPr/>
                    <a:lstStyle/>
                    <a:p>
                      <a:pPr algn="ctr"/>
                      <a:r>
                        <a:rPr sz="1400" b="1">
                          <a:solidFill>
                            <a:srgbClr val="1E1E2E"/>
                          </a:solidFill>
                        </a:rPr>
                        <a:t>Class</a:t>
                      </a:r>
                    </a:p>
                  </a:txBody>
                  <a:tcPr>
                    <a:solidFill>
                      <a:srgbClr val="74C7EC"/>
                    </a:solidFill>
                  </a:tcPr>
                </a:tc>
                <a:tc>
                  <a:txBody>
                    <a:bodyPr/>
                    <a:lstStyle/>
                    <a:p>
                      <a:pPr algn="ctr"/>
                      <a:r>
                        <a:rPr sz="1400" b="1">
                          <a:solidFill>
                            <a:srgbClr val="1E1E2E"/>
                          </a:solidFill>
                        </a:rPr>
                        <a:t>In → Out channels</a:t>
                      </a:r>
                    </a:p>
                  </a:txBody>
                  <a:tcPr>
                    <a:solidFill>
                      <a:srgbClr val="74C7EC"/>
                    </a:solidFill>
                  </a:tcPr>
                </a:tc>
                <a:tc>
                  <a:txBody>
                    <a:bodyPr/>
                    <a:lstStyle/>
                    <a:p>
                      <a:pPr algn="ctr"/>
                      <a:r>
                        <a:rPr sz="1400" b="1">
                          <a:solidFill>
                            <a:srgbClr val="1E1E2E"/>
                          </a:solidFill>
                        </a:rPr>
                        <a:t>Kernel / Stride</a:t>
                      </a:r>
                    </a:p>
                  </a:txBody>
                  <a:tcPr>
                    <a:solidFill>
                      <a:srgbClr val="74C7EC"/>
                    </a:solidFill>
                  </a:tcPr>
                </a:tc>
                <a:tc>
                  <a:txBody>
                    <a:bodyPr/>
                    <a:lstStyle/>
                    <a:p>
                      <a:pPr algn="ctr"/>
                      <a:r>
                        <a:rPr sz="1400" b="1">
                          <a:solidFill>
                            <a:srgbClr val="1E1E2E"/>
                          </a:solidFill>
                        </a:rPr>
                        <a:t>Output shape</a:t>
                      </a:r>
                    </a:p>
                  </a:txBody>
                  <a:tcPr>
                    <a:solidFill>
                      <a:srgbClr val="74C7EC"/>
                    </a:solidFill>
                  </a:tcPr>
                </a:tc>
                <a:tc>
                  <a:txBody>
                    <a:bodyPr/>
                    <a:lstStyle/>
                    <a:p>
                      <a:pPr algn="ctr"/>
                      <a:r>
                        <a:rPr sz="1400" b="1">
                          <a:solidFill>
                            <a:srgbClr val="1E1E2E"/>
                          </a:solidFill>
                        </a:rPr>
                        <a:t>Bias</a:t>
                      </a:r>
                    </a:p>
                  </a:txBody>
                  <a:tcPr>
                    <a:solidFill>
                      <a:srgbClr val="74C7EC"/>
                    </a:solidFill>
                  </a:tcPr>
                </a:tc>
              </a:tr>
              <a:tr h="457200">
                <a:tc>
                  <a:txBody>
                    <a:bodyPr/>
                    <a:lstStyle/>
                    <a:p>
                      <a:pPr algn="ctr"/>
                      <a:r>
                        <a:rPr sz="1300" b="0">
                          <a:solidFill>
                            <a:srgbClr val="FFFFFF"/>
                          </a:solidFill>
                        </a:rPr>
                        <a:t>Conv1</a:t>
                      </a:r>
                    </a:p>
                  </a:txBody>
                  <a:tcPr>
                    <a:solidFill>
                      <a:srgbClr val="313244"/>
                    </a:solidFill>
                  </a:tcPr>
                </a:tc>
                <a:tc>
                  <a:txBody>
                    <a:bodyPr/>
                    <a:lstStyle/>
                    <a:p>
                      <a:pPr algn="ctr"/>
                      <a:r>
                        <a:rPr sz="1300" b="0">
                          <a:solidFill>
                            <a:srgbClr val="FFFFFF"/>
                          </a:solidFill>
                        </a:rPr>
                        <a:t>QuantizedConv2d</a:t>
                      </a:r>
                    </a:p>
                  </a:txBody>
                  <a:tcPr>
                    <a:solidFill>
                      <a:srgbClr val="313244"/>
                    </a:solidFill>
                  </a:tcPr>
                </a:tc>
                <a:tc>
                  <a:txBody>
                    <a:bodyPr/>
                    <a:lstStyle/>
                    <a:p>
                      <a:pPr algn="ctr"/>
                      <a:r>
                        <a:rPr sz="1300" b="0">
                          <a:solidFill>
                            <a:srgbClr val="FFFFFF"/>
                          </a:solidFill>
                        </a:rPr>
                        <a:t>1 → 16</a:t>
                      </a:r>
                    </a:p>
                  </a:txBody>
                  <a:tcPr>
                    <a:solidFill>
                      <a:srgbClr val="313244"/>
                    </a:solidFill>
                  </a:tcPr>
                </a:tc>
                <a:tc>
                  <a:txBody>
                    <a:bodyPr/>
                    <a:lstStyle/>
                    <a:p>
                      <a:pPr algn="ctr"/>
                      <a:r>
                        <a:rPr sz="1300" b="0">
                          <a:solidFill>
                            <a:srgbClr val="FFFFFF"/>
                          </a:solidFill>
                        </a:rPr>
                        <a:t>3×3 / 1</a:t>
                      </a:r>
                    </a:p>
                  </a:txBody>
                  <a:tcPr>
                    <a:solidFill>
                      <a:srgbClr val="313244"/>
                    </a:solidFill>
                  </a:tcPr>
                </a:tc>
                <a:tc>
                  <a:txBody>
                    <a:bodyPr/>
                    <a:lstStyle/>
                    <a:p>
                      <a:pPr algn="ctr"/>
                      <a:r>
                        <a:rPr sz="1300" b="0">
                          <a:solidFill>
                            <a:srgbClr val="FFFFFF"/>
                          </a:solidFill>
                        </a:rPr>
                        <a:t>16 × 26 × 26</a:t>
                      </a:r>
                    </a:p>
                  </a:txBody>
                  <a:tcPr>
                    <a:solidFill>
                      <a:srgbClr val="313244"/>
                    </a:solidFill>
                  </a:tcPr>
                </a:tc>
                <a:tc>
                  <a:txBody>
                    <a:bodyPr/>
                    <a:lstStyle/>
                    <a:p>
                      <a:pPr algn="ctr"/>
                      <a:r>
                        <a:rPr sz="1300" b="0">
                          <a:solidFill>
                            <a:srgbClr val="FFFFFF"/>
                          </a:solidFill>
                        </a:rPr>
                        <a:t>✓</a:t>
                      </a:r>
                    </a:p>
                  </a:txBody>
                  <a:tcPr>
                    <a:solidFill>
                      <a:srgbClr val="313244"/>
                    </a:solidFill>
                  </a:tcPr>
                </a:tc>
              </a:tr>
              <a:tr h="457200">
                <a:tc>
                  <a:txBody>
                    <a:bodyPr/>
                    <a:lstStyle/>
                    <a:p>
                      <a:pPr algn="ctr"/>
                      <a:r>
                        <a:rPr sz="1300" b="0">
                          <a:solidFill>
                            <a:srgbClr val="FFFFFF"/>
                          </a:solidFill>
                        </a:rPr>
                        <a:t>Conv2</a:t>
                      </a:r>
                    </a:p>
                  </a:txBody>
                  <a:tcPr>
                    <a:solidFill>
                      <a:srgbClr val="1E1E2E"/>
                    </a:solidFill>
                  </a:tcPr>
                </a:tc>
                <a:tc>
                  <a:txBody>
                    <a:bodyPr/>
                    <a:lstStyle/>
                    <a:p>
                      <a:pPr algn="ctr"/>
                      <a:r>
                        <a:rPr sz="1300" b="0">
                          <a:solidFill>
                            <a:srgbClr val="FFFFFF"/>
                          </a:solidFill>
                        </a:rPr>
                        <a:t>QuantizedConv2d</a:t>
                      </a:r>
                    </a:p>
                  </a:txBody>
                  <a:tcPr>
                    <a:solidFill>
                      <a:srgbClr val="1E1E2E"/>
                    </a:solidFill>
                  </a:tcPr>
                </a:tc>
                <a:tc>
                  <a:txBody>
                    <a:bodyPr/>
                    <a:lstStyle/>
                    <a:p>
                      <a:pPr algn="ctr"/>
                      <a:r>
                        <a:rPr sz="1300" b="0">
                          <a:solidFill>
                            <a:srgbClr val="FFFFFF"/>
                          </a:solidFill>
                        </a:rPr>
                        <a:t>16 → 32</a:t>
                      </a:r>
                    </a:p>
                  </a:txBody>
                  <a:tcPr>
                    <a:solidFill>
                      <a:srgbClr val="1E1E2E"/>
                    </a:solidFill>
                  </a:tcPr>
                </a:tc>
                <a:tc>
                  <a:txBody>
                    <a:bodyPr/>
                    <a:lstStyle/>
                    <a:p>
                      <a:pPr algn="ctr"/>
                      <a:r>
                        <a:rPr sz="1300" b="0">
                          <a:solidFill>
                            <a:srgbClr val="FFFFFF"/>
                          </a:solidFill>
                        </a:rPr>
                        <a:t>3×3 / 1</a:t>
                      </a:r>
                    </a:p>
                  </a:txBody>
                  <a:tcPr>
                    <a:solidFill>
                      <a:srgbClr val="1E1E2E"/>
                    </a:solidFill>
                  </a:tcPr>
                </a:tc>
                <a:tc>
                  <a:txBody>
                    <a:bodyPr/>
                    <a:lstStyle/>
                    <a:p>
                      <a:pPr algn="ctr"/>
                      <a:r>
                        <a:rPr sz="1300" b="0">
                          <a:solidFill>
                            <a:srgbClr val="FFFFFF"/>
                          </a:solidFill>
                        </a:rPr>
                        <a:t>32 × 24 × 24</a:t>
                      </a:r>
                    </a:p>
                  </a:txBody>
                  <a:tcPr>
                    <a:solidFill>
                      <a:srgbClr val="1E1E2E"/>
                    </a:solidFill>
                  </a:tcPr>
                </a:tc>
                <a:tc>
                  <a:txBody>
                    <a:bodyPr/>
                    <a:lstStyle/>
                    <a:p>
                      <a:pPr algn="ctr"/>
                      <a:r>
                        <a:rPr sz="1300" b="0">
                          <a:solidFill>
                            <a:srgbClr val="FFFFFF"/>
                          </a:solidFill>
                        </a:rPr>
                        <a:t>✓</a:t>
                      </a:r>
                    </a:p>
                  </a:txBody>
                  <a:tcPr>
                    <a:solidFill>
                      <a:srgbClr val="1E1E2E"/>
                    </a:solidFill>
                  </a:tcPr>
                </a:tc>
              </a:tr>
              <a:tr h="457200">
                <a:tc>
                  <a:txBody>
                    <a:bodyPr/>
                    <a:lstStyle/>
                    <a:p>
                      <a:pPr algn="ctr"/>
                      <a:r>
                        <a:rPr sz="1300" b="0">
                          <a:solidFill>
                            <a:srgbClr val="FFFFFF"/>
                          </a:solidFill>
                        </a:rPr>
                        <a:t>Conv3</a:t>
                      </a:r>
                    </a:p>
                  </a:txBody>
                  <a:tcPr>
                    <a:solidFill>
                      <a:srgbClr val="313244"/>
                    </a:solidFill>
                  </a:tcPr>
                </a:tc>
                <a:tc>
                  <a:txBody>
                    <a:bodyPr/>
                    <a:lstStyle/>
                    <a:p>
                      <a:pPr algn="ctr"/>
                      <a:r>
                        <a:rPr sz="1300" b="0">
                          <a:solidFill>
                            <a:srgbClr val="FFFFFF"/>
                          </a:solidFill>
                        </a:rPr>
                        <a:t>QuantizedConv2d</a:t>
                      </a:r>
                    </a:p>
                  </a:txBody>
                  <a:tcPr>
                    <a:solidFill>
                      <a:srgbClr val="313244"/>
                    </a:solidFill>
                  </a:tcPr>
                </a:tc>
                <a:tc>
                  <a:txBody>
                    <a:bodyPr/>
                    <a:lstStyle/>
                    <a:p>
                      <a:pPr algn="ctr"/>
                      <a:r>
                        <a:rPr sz="1300" b="0">
                          <a:solidFill>
                            <a:srgbClr val="FFFFFF"/>
                          </a:solidFill>
                        </a:rPr>
                        <a:t>32 → 32</a:t>
                      </a:r>
                    </a:p>
                  </a:txBody>
                  <a:tcPr>
                    <a:solidFill>
                      <a:srgbClr val="313244"/>
                    </a:solidFill>
                  </a:tcPr>
                </a:tc>
                <a:tc>
                  <a:txBody>
                    <a:bodyPr/>
                    <a:lstStyle/>
                    <a:p>
                      <a:pPr algn="ctr"/>
                      <a:r>
                        <a:rPr sz="1300" b="0">
                          <a:solidFill>
                            <a:srgbClr val="FFFFFF"/>
                          </a:solidFill>
                        </a:rPr>
                        <a:t>3×3 / 1</a:t>
                      </a:r>
                    </a:p>
                  </a:txBody>
                  <a:tcPr>
                    <a:solidFill>
                      <a:srgbClr val="313244"/>
                    </a:solidFill>
                  </a:tcPr>
                </a:tc>
                <a:tc>
                  <a:txBody>
                    <a:bodyPr/>
                    <a:lstStyle/>
                    <a:p>
                      <a:pPr algn="ctr"/>
                      <a:r>
                        <a:rPr sz="1300" b="0">
                          <a:solidFill>
                            <a:srgbClr val="FFFFFF"/>
                          </a:solidFill>
                        </a:rPr>
                        <a:t>32 × 22 × 22</a:t>
                      </a:r>
                    </a:p>
                  </a:txBody>
                  <a:tcPr>
                    <a:solidFill>
                      <a:srgbClr val="313244"/>
                    </a:solidFill>
                  </a:tcPr>
                </a:tc>
                <a:tc>
                  <a:txBody>
                    <a:bodyPr/>
                    <a:lstStyle/>
                    <a:p>
                      <a:pPr algn="ctr"/>
                      <a:r>
                        <a:rPr sz="1300" b="0">
                          <a:solidFill>
                            <a:srgbClr val="FFFFFF"/>
                          </a:solidFill>
                        </a:rPr>
                        <a:t>✓</a:t>
                      </a:r>
                    </a:p>
                  </a:txBody>
                  <a:tcPr>
                    <a:solidFill>
                      <a:srgbClr val="313244"/>
                    </a:solidFill>
                  </a:tcPr>
                </a:tc>
              </a:tr>
              <a:tr h="457200">
                <a:tc>
                  <a:txBody>
                    <a:bodyPr/>
                    <a:lstStyle/>
                    <a:p>
                      <a:pPr algn="ctr"/>
                      <a:r>
                        <a:rPr sz="1300" b="0">
                          <a:solidFill>
                            <a:srgbClr val="FFFFFF"/>
                          </a:solidFill>
                        </a:rPr>
                        <a:t>MaxPool</a:t>
                      </a:r>
                    </a:p>
                  </a:txBody>
                  <a:tcPr>
                    <a:solidFill>
                      <a:srgbClr val="1E1E2E"/>
                    </a:solidFill>
                  </a:tcPr>
                </a:tc>
                <a:tc>
                  <a:txBody>
                    <a:bodyPr/>
                    <a:lstStyle/>
                    <a:p>
                      <a:pPr algn="ctr"/>
                      <a:r>
                        <a:rPr sz="1300" b="0">
                          <a:solidFill>
                            <a:srgbClr val="FFFFFF"/>
                          </a:solidFill>
                        </a:rPr>
                        <a:t>nn.MaxPool2d</a:t>
                      </a:r>
                    </a:p>
                  </a:txBody>
                  <a:tcPr>
                    <a:solidFill>
                      <a:srgbClr val="1E1E2E"/>
                    </a:solidFill>
                  </a:tcPr>
                </a:tc>
                <a:tc>
                  <a:txBody>
                    <a:bodyPr/>
                    <a:lstStyle/>
                    <a:p>
                      <a:pPr algn="ctr"/>
                      <a:r>
                        <a:rPr sz="1300" b="0">
                          <a:solidFill>
                            <a:srgbClr val="FFFFFF"/>
                          </a:solidFill>
                        </a:rPr>
                        <a:t>—</a:t>
                      </a:r>
                    </a:p>
                  </a:txBody>
                  <a:tcPr>
                    <a:solidFill>
                      <a:srgbClr val="1E1E2E"/>
                    </a:solidFill>
                  </a:tcPr>
                </a:tc>
                <a:tc>
                  <a:txBody>
                    <a:bodyPr/>
                    <a:lstStyle/>
                    <a:p>
                      <a:pPr algn="ctr"/>
                      <a:r>
                        <a:rPr sz="1300" b="0">
                          <a:solidFill>
                            <a:srgbClr val="FFFFFF"/>
                          </a:solidFill>
                        </a:rPr>
                        <a:t>2×2</a:t>
                      </a:r>
                    </a:p>
                  </a:txBody>
                  <a:tcPr>
                    <a:solidFill>
                      <a:srgbClr val="1E1E2E"/>
                    </a:solidFill>
                  </a:tcPr>
                </a:tc>
                <a:tc>
                  <a:txBody>
                    <a:bodyPr/>
                    <a:lstStyle/>
                    <a:p>
                      <a:pPr algn="ctr"/>
                      <a:r>
                        <a:rPr sz="1300" b="0">
                          <a:solidFill>
                            <a:srgbClr val="FFFFFF"/>
                          </a:solidFill>
                        </a:rPr>
                        <a:t>32 × 11 × 11</a:t>
                      </a:r>
                    </a:p>
                  </a:txBody>
                  <a:tcPr>
                    <a:solidFill>
                      <a:srgbClr val="1E1E2E"/>
                    </a:solidFill>
                  </a:tcPr>
                </a:tc>
                <a:tc>
                  <a:txBody>
                    <a:bodyPr/>
                    <a:lstStyle/>
                    <a:p>
                      <a:pPr algn="ctr"/>
                      <a:r>
                        <a:rPr sz="1300" b="0">
                          <a:solidFill>
                            <a:srgbClr val="FFFFFF"/>
                          </a:solidFill>
                        </a:rPr>
                        <a:t>—</a:t>
                      </a:r>
                    </a:p>
                  </a:txBody>
                  <a:tcPr>
                    <a:solidFill>
                      <a:srgbClr val="1E1E2E"/>
                    </a:solidFill>
                  </a:tcPr>
                </a:tc>
              </a:tr>
              <a:tr h="457200">
                <a:tc>
                  <a:txBody>
                    <a:bodyPr/>
                    <a:lstStyle/>
                    <a:p>
                      <a:pPr algn="ctr"/>
                      <a:r>
                        <a:rPr sz="1300" b="0">
                          <a:solidFill>
                            <a:srgbClr val="FFFFFF"/>
                          </a:solidFill>
                        </a:rPr>
                        <a:t>FC</a:t>
                      </a:r>
                    </a:p>
                  </a:txBody>
                  <a:tcPr>
                    <a:solidFill>
                      <a:srgbClr val="313244"/>
                    </a:solidFill>
                  </a:tcPr>
                </a:tc>
                <a:tc>
                  <a:txBody>
                    <a:bodyPr/>
                    <a:lstStyle/>
                    <a:p>
                      <a:pPr algn="ctr"/>
                      <a:r>
                        <a:rPr sz="1300" b="0">
                          <a:solidFill>
                            <a:srgbClr val="FFFFFF"/>
                          </a:solidFill>
                        </a:rPr>
                        <a:t>QuantizedLinear</a:t>
                      </a:r>
                    </a:p>
                  </a:txBody>
                  <a:tcPr>
                    <a:solidFill>
                      <a:srgbClr val="313244"/>
                    </a:solidFill>
                  </a:tcPr>
                </a:tc>
                <a:tc>
                  <a:txBody>
                    <a:bodyPr/>
                    <a:lstStyle/>
                    <a:p>
                      <a:pPr algn="ctr"/>
                      <a:r>
                        <a:rPr sz="1300" b="0">
                          <a:solidFill>
                            <a:srgbClr val="FFFFFF"/>
                          </a:solidFill>
                        </a:rPr>
                        <a:t>3 872 → 10</a:t>
                      </a:r>
                    </a:p>
                  </a:txBody>
                  <a:tcPr>
                    <a:solidFill>
                      <a:srgbClr val="313244"/>
                    </a:solidFill>
                  </a:tcPr>
                </a:tc>
                <a:tc>
                  <a:txBody>
                    <a:bodyPr/>
                    <a:lstStyle/>
                    <a:p>
                      <a:pPr algn="ctr"/>
                      <a:r>
                        <a:rPr sz="1300" b="0">
                          <a:solidFill>
                            <a:srgbClr val="FFFFFF"/>
                          </a:solidFill>
                        </a:rPr>
                        <a:t>—</a:t>
                      </a:r>
                    </a:p>
                  </a:txBody>
                  <a:tcPr>
                    <a:solidFill>
                      <a:srgbClr val="313244"/>
                    </a:solidFill>
                  </a:tcPr>
                </a:tc>
                <a:tc>
                  <a:txBody>
                    <a:bodyPr/>
                    <a:lstStyle/>
                    <a:p>
                      <a:pPr algn="ctr"/>
                      <a:r>
                        <a:rPr sz="1300" b="0">
                          <a:solidFill>
                            <a:srgbClr val="FFFFFF"/>
                          </a:solidFill>
                        </a:rPr>
                        <a:t>10</a:t>
                      </a:r>
                    </a:p>
                  </a:txBody>
                  <a:tcPr>
                    <a:solidFill>
                      <a:srgbClr val="313244"/>
                    </a:solidFill>
                  </a:tcPr>
                </a:tc>
                <a:tc>
                  <a:txBody>
                    <a:bodyPr/>
                    <a:lstStyle/>
                    <a:p>
                      <a:pPr algn="ctr"/>
                      <a:r>
                        <a:rPr sz="1300" b="0">
                          <a:solidFill>
                            <a:srgbClr val="FFFFFF"/>
                          </a:solidFill>
                        </a:rPr>
                        <a:t>✓</a:t>
                      </a:r>
                    </a:p>
                  </a:txBody>
                  <a:tcPr>
                    <a:solidFill>
                      <a:srgbClr val="31324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Fixed-Point Scheme: ap_fixed⟨16, 7⟩</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Emulated in Python; identical semantics to Vivado HLS ap_fixed</a:t>
            </a:r>
          </a:p>
        </p:txBody>
      </p:sp>
      <p:sp>
        <p:nvSpPr>
          <p:cNvPr id="5" name="Rectangle 4"/>
          <p:cNvSpPr/>
          <p:nvPr/>
        </p:nvSpPr>
        <p:spPr>
          <a:xfrm>
            <a:off x="365760" y="1371600"/>
            <a:ext cx="5303520" cy="219456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2377440" cy="274320"/>
          </a:xfrm>
          <a:prstGeom prst="rect">
            <a:avLst/>
          </a:prstGeom>
          <a:noFill/>
        </p:spPr>
        <p:txBody>
          <a:bodyPr wrap="square">
            <a:spAutoFit/>
          </a:bodyPr>
          <a:lstStyle/>
          <a:p>
            <a:pPr algn="l"/>
            <a:r>
              <a:rPr sz="1300" b="0">
                <a:solidFill>
                  <a:srgbClr val="CDD6F4"/>
                </a:solidFill>
              </a:rPr>
              <a:t>Word width   W</a:t>
            </a:r>
          </a:p>
        </p:txBody>
      </p:sp>
      <p:sp>
        <p:nvSpPr>
          <p:cNvPr id="7" name="TextBox 6"/>
          <p:cNvSpPr txBox="1"/>
          <p:nvPr/>
        </p:nvSpPr>
        <p:spPr>
          <a:xfrm>
            <a:off x="3017520" y="1463040"/>
            <a:ext cx="2468880" cy="274320"/>
          </a:xfrm>
          <a:prstGeom prst="rect">
            <a:avLst/>
          </a:prstGeom>
          <a:noFill/>
        </p:spPr>
        <p:txBody>
          <a:bodyPr wrap="square">
            <a:spAutoFit/>
          </a:bodyPr>
          <a:lstStyle/>
          <a:p>
            <a:pPr algn="l"/>
            <a:r>
              <a:rPr sz="1300" b="1">
                <a:solidFill>
                  <a:srgbClr val="F9E2AF"/>
                </a:solidFill>
              </a:rPr>
              <a:t>16 bits</a:t>
            </a:r>
          </a:p>
        </p:txBody>
      </p:sp>
      <p:sp>
        <p:nvSpPr>
          <p:cNvPr id="8" name="TextBox 7"/>
          <p:cNvSpPr txBox="1"/>
          <p:nvPr/>
        </p:nvSpPr>
        <p:spPr>
          <a:xfrm>
            <a:off x="548640" y="1737360"/>
            <a:ext cx="2377440" cy="274320"/>
          </a:xfrm>
          <a:prstGeom prst="rect">
            <a:avLst/>
          </a:prstGeom>
          <a:noFill/>
        </p:spPr>
        <p:txBody>
          <a:bodyPr wrap="square">
            <a:spAutoFit/>
          </a:bodyPr>
          <a:lstStyle/>
          <a:p>
            <a:pPr algn="l"/>
            <a:r>
              <a:rPr sz="1300" b="0">
                <a:solidFill>
                  <a:srgbClr val="CDD6F4"/>
                </a:solidFill>
              </a:rPr>
              <a:t>Integer bits  I</a:t>
            </a:r>
          </a:p>
        </p:txBody>
      </p:sp>
      <p:sp>
        <p:nvSpPr>
          <p:cNvPr id="9" name="TextBox 8"/>
          <p:cNvSpPr txBox="1"/>
          <p:nvPr/>
        </p:nvSpPr>
        <p:spPr>
          <a:xfrm>
            <a:off x="3017520" y="1737360"/>
            <a:ext cx="2468880" cy="274320"/>
          </a:xfrm>
          <a:prstGeom prst="rect">
            <a:avLst/>
          </a:prstGeom>
          <a:noFill/>
        </p:spPr>
        <p:txBody>
          <a:bodyPr wrap="square">
            <a:spAutoFit/>
          </a:bodyPr>
          <a:lstStyle/>
          <a:p>
            <a:pPr algn="l"/>
            <a:r>
              <a:rPr sz="1300" b="1">
                <a:solidFill>
                  <a:srgbClr val="F9E2AF"/>
                </a:solidFill>
              </a:rPr>
              <a:t>7  bits  (includes sign)</a:t>
            </a:r>
          </a:p>
        </p:txBody>
      </p:sp>
      <p:sp>
        <p:nvSpPr>
          <p:cNvPr id="10" name="TextBox 9"/>
          <p:cNvSpPr txBox="1"/>
          <p:nvPr/>
        </p:nvSpPr>
        <p:spPr>
          <a:xfrm>
            <a:off x="548640" y="2011680"/>
            <a:ext cx="2377440" cy="274320"/>
          </a:xfrm>
          <a:prstGeom prst="rect">
            <a:avLst/>
          </a:prstGeom>
          <a:noFill/>
        </p:spPr>
        <p:txBody>
          <a:bodyPr wrap="square">
            <a:spAutoFit/>
          </a:bodyPr>
          <a:lstStyle/>
          <a:p>
            <a:pPr algn="l"/>
            <a:r>
              <a:rPr sz="1300" b="0">
                <a:solidFill>
                  <a:srgbClr val="CDD6F4"/>
                </a:solidFill>
              </a:rPr>
              <a:t>Fraction bits F</a:t>
            </a:r>
          </a:p>
        </p:txBody>
      </p:sp>
      <p:sp>
        <p:nvSpPr>
          <p:cNvPr id="11" name="TextBox 10"/>
          <p:cNvSpPr txBox="1"/>
          <p:nvPr/>
        </p:nvSpPr>
        <p:spPr>
          <a:xfrm>
            <a:off x="3017520" y="2011680"/>
            <a:ext cx="2468880" cy="274320"/>
          </a:xfrm>
          <a:prstGeom prst="rect">
            <a:avLst/>
          </a:prstGeom>
          <a:noFill/>
        </p:spPr>
        <p:txBody>
          <a:bodyPr wrap="square">
            <a:spAutoFit/>
          </a:bodyPr>
          <a:lstStyle/>
          <a:p>
            <a:pPr algn="l"/>
            <a:r>
              <a:rPr sz="1300" b="1">
                <a:solidFill>
                  <a:srgbClr val="F9E2AF"/>
                </a:solidFill>
              </a:rPr>
              <a:t>9  bits  (= W − I)</a:t>
            </a:r>
          </a:p>
        </p:txBody>
      </p:sp>
      <p:sp>
        <p:nvSpPr>
          <p:cNvPr id="12" name="TextBox 11"/>
          <p:cNvSpPr txBox="1"/>
          <p:nvPr/>
        </p:nvSpPr>
        <p:spPr>
          <a:xfrm>
            <a:off x="548640" y="2286000"/>
            <a:ext cx="2377440" cy="274320"/>
          </a:xfrm>
          <a:prstGeom prst="rect">
            <a:avLst/>
          </a:prstGeom>
          <a:noFill/>
        </p:spPr>
        <p:txBody>
          <a:bodyPr wrap="square">
            <a:spAutoFit/>
          </a:bodyPr>
          <a:lstStyle/>
          <a:p>
            <a:pPr algn="l"/>
            <a:r>
              <a:rPr sz="1300" b="0">
                <a:solidFill>
                  <a:srgbClr val="CDD6F4"/>
                </a:solidFill>
              </a:rPr>
              <a:t>Scale factor</a:t>
            </a:r>
          </a:p>
        </p:txBody>
      </p:sp>
      <p:sp>
        <p:nvSpPr>
          <p:cNvPr id="13" name="TextBox 12"/>
          <p:cNvSpPr txBox="1"/>
          <p:nvPr/>
        </p:nvSpPr>
        <p:spPr>
          <a:xfrm>
            <a:off x="3017520" y="2286000"/>
            <a:ext cx="2468880" cy="274320"/>
          </a:xfrm>
          <a:prstGeom prst="rect">
            <a:avLst/>
          </a:prstGeom>
          <a:noFill/>
        </p:spPr>
        <p:txBody>
          <a:bodyPr wrap="square">
            <a:spAutoFit/>
          </a:bodyPr>
          <a:lstStyle/>
          <a:p>
            <a:pPr algn="l"/>
            <a:r>
              <a:rPr sz="1300" b="1">
                <a:solidFill>
                  <a:srgbClr val="F9E2AF"/>
                </a:solidFill>
              </a:rPr>
              <a:t>2⁹ = 512</a:t>
            </a:r>
          </a:p>
        </p:txBody>
      </p:sp>
      <p:sp>
        <p:nvSpPr>
          <p:cNvPr id="14" name="TextBox 13"/>
          <p:cNvSpPr txBox="1"/>
          <p:nvPr/>
        </p:nvSpPr>
        <p:spPr>
          <a:xfrm>
            <a:off x="548640" y="2560320"/>
            <a:ext cx="2377440" cy="274320"/>
          </a:xfrm>
          <a:prstGeom prst="rect">
            <a:avLst/>
          </a:prstGeom>
          <a:noFill/>
        </p:spPr>
        <p:txBody>
          <a:bodyPr wrap="square">
            <a:spAutoFit/>
          </a:bodyPr>
          <a:lstStyle/>
          <a:p>
            <a:pPr algn="l"/>
            <a:r>
              <a:rPr sz="1300" b="0">
                <a:solidFill>
                  <a:srgbClr val="CDD6F4"/>
                </a:solidFill>
              </a:rPr>
              <a:t>Min value</a:t>
            </a:r>
          </a:p>
        </p:txBody>
      </p:sp>
      <p:sp>
        <p:nvSpPr>
          <p:cNvPr id="15" name="TextBox 14"/>
          <p:cNvSpPr txBox="1"/>
          <p:nvPr/>
        </p:nvSpPr>
        <p:spPr>
          <a:xfrm>
            <a:off x="3017520" y="2560320"/>
            <a:ext cx="2468880" cy="274320"/>
          </a:xfrm>
          <a:prstGeom prst="rect">
            <a:avLst/>
          </a:prstGeom>
          <a:noFill/>
        </p:spPr>
        <p:txBody>
          <a:bodyPr wrap="square">
            <a:spAutoFit/>
          </a:bodyPr>
          <a:lstStyle/>
          <a:p>
            <a:pPr algn="l"/>
            <a:r>
              <a:rPr sz="1300" b="1">
                <a:solidFill>
                  <a:srgbClr val="F9E2AF"/>
                </a:solidFill>
              </a:rPr>
              <a:t>−64</a:t>
            </a:r>
          </a:p>
        </p:txBody>
      </p:sp>
      <p:sp>
        <p:nvSpPr>
          <p:cNvPr id="16" name="TextBox 15"/>
          <p:cNvSpPr txBox="1"/>
          <p:nvPr/>
        </p:nvSpPr>
        <p:spPr>
          <a:xfrm>
            <a:off x="548640" y="2834640"/>
            <a:ext cx="2377440" cy="274320"/>
          </a:xfrm>
          <a:prstGeom prst="rect">
            <a:avLst/>
          </a:prstGeom>
          <a:noFill/>
        </p:spPr>
        <p:txBody>
          <a:bodyPr wrap="square">
            <a:spAutoFit/>
          </a:bodyPr>
          <a:lstStyle/>
          <a:p>
            <a:pPr algn="l"/>
            <a:r>
              <a:rPr sz="1300" b="0">
                <a:solidFill>
                  <a:srgbClr val="CDD6F4"/>
                </a:solidFill>
              </a:rPr>
              <a:t>Max value</a:t>
            </a:r>
          </a:p>
        </p:txBody>
      </p:sp>
      <p:sp>
        <p:nvSpPr>
          <p:cNvPr id="17" name="TextBox 16"/>
          <p:cNvSpPr txBox="1"/>
          <p:nvPr/>
        </p:nvSpPr>
        <p:spPr>
          <a:xfrm>
            <a:off x="3017520" y="2834640"/>
            <a:ext cx="2468880" cy="274320"/>
          </a:xfrm>
          <a:prstGeom prst="rect">
            <a:avLst/>
          </a:prstGeom>
          <a:noFill/>
        </p:spPr>
        <p:txBody>
          <a:bodyPr wrap="square">
            <a:spAutoFit/>
          </a:bodyPr>
          <a:lstStyle/>
          <a:p>
            <a:pPr algn="l"/>
            <a:r>
              <a:rPr sz="1300" b="1">
                <a:solidFill>
                  <a:srgbClr val="F9E2AF"/>
                </a:solidFill>
              </a:rPr>
              <a:t>64 − 2⁻⁹  ≈  63.998</a:t>
            </a:r>
          </a:p>
        </p:txBody>
      </p:sp>
      <p:sp>
        <p:nvSpPr>
          <p:cNvPr id="18" name="TextBox 17"/>
          <p:cNvSpPr txBox="1"/>
          <p:nvPr/>
        </p:nvSpPr>
        <p:spPr>
          <a:xfrm>
            <a:off x="548640" y="3108960"/>
            <a:ext cx="2377440" cy="274320"/>
          </a:xfrm>
          <a:prstGeom prst="rect">
            <a:avLst/>
          </a:prstGeom>
          <a:noFill/>
        </p:spPr>
        <p:txBody>
          <a:bodyPr wrap="square">
            <a:spAutoFit/>
          </a:bodyPr>
          <a:lstStyle/>
          <a:p>
            <a:pPr algn="l"/>
            <a:r>
              <a:rPr sz="1300" b="0">
                <a:solidFill>
                  <a:srgbClr val="CDD6F4"/>
                </a:solidFill>
              </a:rPr>
              <a:t>Quantum / LSB</a:t>
            </a:r>
          </a:p>
        </p:txBody>
      </p:sp>
      <p:sp>
        <p:nvSpPr>
          <p:cNvPr id="19" name="TextBox 18"/>
          <p:cNvSpPr txBox="1"/>
          <p:nvPr/>
        </p:nvSpPr>
        <p:spPr>
          <a:xfrm>
            <a:off x="3017520" y="3108960"/>
            <a:ext cx="2468880" cy="274320"/>
          </a:xfrm>
          <a:prstGeom prst="rect">
            <a:avLst/>
          </a:prstGeom>
          <a:noFill/>
        </p:spPr>
        <p:txBody>
          <a:bodyPr wrap="square">
            <a:spAutoFit/>
          </a:bodyPr>
          <a:lstStyle/>
          <a:p>
            <a:pPr algn="l"/>
            <a:r>
              <a:rPr sz="1300" b="1">
                <a:solidFill>
                  <a:srgbClr val="F9E2AF"/>
                </a:solidFill>
              </a:rPr>
              <a:t>2⁻⁹ ≈ 0.00195</a:t>
            </a:r>
          </a:p>
        </p:txBody>
      </p:sp>
      <p:sp>
        <p:nvSpPr>
          <p:cNvPr id="20" name="TextBox 19"/>
          <p:cNvSpPr txBox="1"/>
          <p:nvPr/>
        </p:nvSpPr>
        <p:spPr>
          <a:xfrm>
            <a:off x="5943600" y="1417320"/>
            <a:ext cx="5943600" cy="320040"/>
          </a:xfrm>
          <a:prstGeom prst="rect">
            <a:avLst/>
          </a:prstGeom>
          <a:noFill/>
        </p:spPr>
        <p:txBody>
          <a:bodyPr wrap="square">
            <a:spAutoFit/>
          </a:bodyPr>
          <a:lstStyle/>
          <a:p>
            <a:pPr algn="l"/>
            <a:r>
              <a:rPr sz="1300" b="1">
                <a:solidFill>
                  <a:srgbClr val="CDD6F4"/>
                </a:solidFill>
              </a:rPr>
              <a:t>16-bit word layout</a:t>
            </a:r>
          </a:p>
        </p:txBody>
      </p:sp>
      <p:sp>
        <p:nvSpPr>
          <p:cNvPr id="21" name="Rectangle 20"/>
          <p:cNvSpPr/>
          <p:nvPr/>
        </p:nvSpPr>
        <p:spPr>
          <a:xfrm>
            <a:off x="5943600" y="1783080"/>
            <a:ext cx="347472" cy="45720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1783080"/>
            <a:ext cx="365760" cy="457200"/>
          </a:xfrm>
          <a:prstGeom prst="rect">
            <a:avLst/>
          </a:prstGeom>
          <a:noFill/>
        </p:spPr>
        <p:txBody>
          <a:bodyPr wrap="square">
            <a:spAutoFit/>
          </a:bodyPr>
          <a:lstStyle/>
          <a:p>
            <a:pPr algn="ctr"/>
            <a:r>
              <a:rPr sz="900" b="1">
                <a:solidFill>
                  <a:srgbClr val="1E1E2E"/>
                </a:solidFill>
              </a:rPr>
              <a:t>S</a:t>
            </a:r>
          </a:p>
        </p:txBody>
      </p:sp>
      <p:sp>
        <p:nvSpPr>
          <p:cNvPr id="23" name="Rectangle 22"/>
          <p:cNvSpPr/>
          <p:nvPr/>
        </p:nvSpPr>
        <p:spPr>
          <a:xfrm>
            <a:off x="630936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1783080"/>
            <a:ext cx="365760" cy="457200"/>
          </a:xfrm>
          <a:prstGeom prst="rect">
            <a:avLst/>
          </a:prstGeom>
          <a:noFill/>
        </p:spPr>
        <p:txBody>
          <a:bodyPr wrap="square">
            <a:spAutoFit/>
          </a:bodyPr>
          <a:lstStyle/>
          <a:p>
            <a:pPr algn="ctr"/>
            <a:r>
              <a:rPr sz="900" b="1">
                <a:solidFill>
                  <a:srgbClr val="1E1E2E"/>
                </a:solidFill>
              </a:rPr>
              <a:t>5</a:t>
            </a:r>
          </a:p>
        </p:txBody>
      </p:sp>
      <p:sp>
        <p:nvSpPr>
          <p:cNvPr id="25" name="Rectangle 24"/>
          <p:cNvSpPr/>
          <p:nvPr/>
        </p:nvSpPr>
        <p:spPr>
          <a:xfrm>
            <a:off x="667512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1783080"/>
            <a:ext cx="365760" cy="457200"/>
          </a:xfrm>
          <a:prstGeom prst="rect">
            <a:avLst/>
          </a:prstGeom>
          <a:noFill/>
        </p:spPr>
        <p:txBody>
          <a:bodyPr wrap="square">
            <a:spAutoFit/>
          </a:bodyPr>
          <a:lstStyle/>
          <a:p>
            <a:pPr algn="ctr"/>
            <a:r>
              <a:rPr sz="900" b="1">
                <a:solidFill>
                  <a:srgbClr val="1E1E2E"/>
                </a:solidFill>
              </a:rPr>
              <a:t>4</a:t>
            </a:r>
          </a:p>
        </p:txBody>
      </p:sp>
      <p:sp>
        <p:nvSpPr>
          <p:cNvPr id="27" name="Rectangle 26"/>
          <p:cNvSpPr/>
          <p:nvPr/>
        </p:nvSpPr>
        <p:spPr>
          <a:xfrm>
            <a:off x="704088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1783080"/>
            <a:ext cx="365760" cy="457200"/>
          </a:xfrm>
          <a:prstGeom prst="rect">
            <a:avLst/>
          </a:prstGeom>
          <a:noFill/>
        </p:spPr>
        <p:txBody>
          <a:bodyPr wrap="square">
            <a:spAutoFit/>
          </a:bodyPr>
          <a:lstStyle/>
          <a:p>
            <a:pPr algn="ctr"/>
            <a:r>
              <a:rPr sz="900" b="1">
                <a:solidFill>
                  <a:srgbClr val="1E1E2E"/>
                </a:solidFill>
              </a:rPr>
              <a:t>3</a:t>
            </a:r>
          </a:p>
        </p:txBody>
      </p:sp>
      <p:sp>
        <p:nvSpPr>
          <p:cNvPr id="29" name="Rectangle 28"/>
          <p:cNvSpPr/>
          <p:nvPr/>
        </p:nvSpPr>
        <p:spPr>
          <a:xfrm>
            <a:off x="740664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1783080"/>
            <a:ext cx="365760" cy="457200"/>
          </a:xfrm>
          <a:prstGeom prst="rect">
            <a:avLst/>
          </a:prstGeom>
          <a:noFill/>
        </p:spPr>
        <p:txBody>
          <a:bodyPr wrap="square">
            <a:spAutoFit/>
          </a:bodyPr>
          <a:lstStyle/>
          <a:p>
            <a:pPr algn="ctr"/>
            <a:r>
              <a:rPr sz="900" b="1">
                <a:solidFill>
                  <a:srgbClr val="1E1E2E"/>
                </a:solidFill>
              </a:rPr>
              <a:t>2</a:t>
            </a:r>
          </a:p>
        </p:txBody>
      </p:sp>
      <p:sp>
        <p:nvSpPr>
          <p:cNvPr id="31" name="Rectangle 30"/>
          <p:cNvSpPr/>
          <p:nvPr/>
        </p:nvSpPr>
        <p:spPr>
          <a:xfrm>
            <a:off x="777240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1783080"/>
            <a:ext cx="365760" cy="457200"/>
          </a:xfrm>
          <a:prstGeom prst="rect">
            <a:avLst/>
          </a:prstGeom>
          <a:noFill/>
        </p:spPr>
        <p:txBody>
          <a:bodyPr wrap="square">
            <a:spAutoFit/>
          </a:bodyPr>
          <a:lstStyle/>
          <a:p>
            <a:pPr algn="ctr"/>
            <a:r>
              <a:rPr sz="900" b="1">
                <a:solidFill>
                  <a:srgbClr val="1E1E2E"/>
                </a:solidFill>
              </a:rPr>
              <a:t>1</a:t>
            </a:r>
          </a:p>
        </p:txBody>
      </p:sp>
      <p:sp>
        <p:nvSpPr>
          <p:cNvPr id="33" name="Rectangle 32"/>
          <p:cNvSpPr/>
          <p:nvPr/>
        </p:nvSpPr>
        <p:spPr>
          <a:xfrm>
            <a:off x="8138160" y="1783080"/>
            <a:ext cx="347472" cy="45720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0" y="1783080"/>
            <a:ext cx="365760" cy="457200"/>
          </a:xfrm>
          <a:prstGeom prst="rect">
            <a:avLst/>
          </a:prstGeom>
          <a:noFill/>
        </p:spPr>
        <p:txBody>
          <a:bodyPr wrap="square">
            <a:spAutoFit/>
          </a:bodyPr>
          <a:lstStyle/>
          <a:p>
            <a:pPr algn="ctr"/>
            <a:r>
              <a:rPr sz="900" b="1">
                <a:solidFill>
                  <a:srgbClr val="1E1E2E"/>
                </a:solidFill>
              </a:rPr>
              <a:t>0</a:t>
            </a:r>
          </a:p>
        </p:txBody>
      </p:sp>
      <p:sp>
        <p:nvSpPr>
          <p:cNvPr id="35" name="Rectangle 34"/>
          <p:cNvSpPr/>
          <p:nvPr/>
        </p:nvSpPr>
        <p:spPr>
          <a:xfrm>
            <a:off x="850392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0" y="1783080"/>
            <a:ext cx="365760" cy="457200"/>
          </a:xfrm>
          <a:prstGeom prst="rect">
            <a:avLst/>
          </a:prstGeom>
          <a:noFill/>
        </p:spPr>
        <p:txBody>
          <a:bodyPr wrap="square">
            <a:spAutoFit/>
          </a:bodyPr>
          <a:lstStyle/>
          <a:p>
            <a:pPr algn="ctr"/>
            <a:r>
              <a:rPr sz="900" b="1">
                <a:solidFill>
                  <a:srgbClr val="1E1E2E"/>
                </a:solidFill>
              </a:rPr>
              <a:t>-1</a:t>
            </a:r>
          </a:p>
        </p:txBody>
      </p:sp>
      <p:sp>
        <p:nvSpPr>
          <p:cNvPr id="37" name="Rectangle 36"/>
          <p:cNvSpPr/>
          <p:nvPr/>
        </p:nvSpPr>
        <p:spPr>
          <a:xfrm>
            <a:off x="886968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1783080"/>
            <a:ext cx="365760" cy="457200"/>
          </a:xfrm>
          <a:prstGeom prst="rect">
            <a:avLst/>
          </a:prstGeom>
          <a:noFill/>
        </p:spPr>
        <p:txBody>
          <a:bodyPr wrap="square">
            <a:spAutoFit/>
          </a:bodyPr>
          <a:lstStyle/>
          <a:p>
            <a:pPr algn="ctr"/>
            <a:r>
              <a:rPr sz="900" b="1">
                <a:solidFill>
                  <a:srgbClr val="1E1E2E"/>
                </a:solidFill>
              </a:rPr>
              <a:t>-2</a:t>
            </a:r>
          </a:p>
        </p:txBody>
      </p:sp>
      <p:sp>
        <p:nvSpPr>
          <p:cNvPr id="39" name="Rectangle 38"/>
          <p:cNvSpPr/>
          <p:nvPr/>
        </p:nvSpPr>
        <p:spPr>
          <a:xfrm>
            <a:off x="923544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35440" y="1783080"/>
            <a:ext cx="365760" cy="457200"/>
          </a:xfrm>
          <a:prstGeom prst="rect">
            <a:avLst/>
          </a:prstGeom>
          <a:noFill/>
        </p:spPr>
        <p:txBody>
          <a:bodyPr wrap="square">
            <a:spAutoFit/>
          </a:bodyPr>
          <a:lstStyle/>
          <a:p>
            <a:pPr algn="ctr"/>
            <a:r>
              <a:rPr sz="900" b="1">
                <a:solidFill>
                  <a:srgbClr val="1E1E2E"/>
                </a:solidFill>
              </a:rPr>
              <a:t>-3</a:t>
            </a:r>
          </a:p>
        </p:txBody>
      </p:sp>
      <p:sp>
        <p:nvSpPr>
          <p:cNvPr id="41" name="Rectangle 40"/>
          <p:cNvSpPr/>
          <p:nvPr/>
        </p:nvSpPr>
        <p:spPr>
          <a:xfrm>
            <a:off x="960120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0" y="1783080"/>
            <a:ext cx="365760" cy="457200"/>
          </a:xfrm>
          <a:prstGeom prst="rect">
            <a:avLst/>
          </a:prstGeom>
          <a:noFill/>
        </p:spPr>
        <p:txBody>
          <a:bodyPr wrap="square">
            <a:spAutoFit/>
          </a:bodyPr>
          <a:lstStyle/>
          <a:p>
            <a:pPr algn="ctr"/>
            <a:r>
              <a:rPr sz="900" b="1">
                <a:solidFill>
                  <a:srgbClr val="1E1E2E"/>
                </a:solidFill>
              </a:rPr>
              <a:t>-4</a:t>
            </a:r>
          </a:p>
        </p:txBody>
      </p:sp>
      <p:sp>
        <p:nvSpPr>
          <p:cNvPr id="43" name="Rectangle 42"/>
          <p:cNvSpPr/>
          <p:nvPr/>
        </p:nvSpPr>
        <p:spPr>
          <a:xfrm>
            <a:off x="996696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66960" y="1783080"/>
            <a:ext cx="365760" cy="457200"/>
          </a:xfrm>
          <a:prstGeom prst="rect">
            <a:avLst/>
          </a:prstGeom>
          <a:noFill/>
        </p:spPr>
        <p:txBody>
          <a:bodyPr wrap="square">
            <a:spAutoFit/>
          </a:bodyPr>
          <a:lstStyle/>
          <a:p>
            <a:pPr algn="ctr"/>
            <a:r>
              <a:rPr sz="900" b="1">
                <a:solidFill>
                  <a:srgbClr val="1E1E2E"/>
                </a:solidFill>
              </a:rPr>
              <a:t>-5</a:t>
            </a:r>
          </a:p>
        </p:txBody>
      </p:sp>
      <p:sp>
        <p:nvSpPr>
          <p:cNvPr id="45" name="Rectangle 44"/>
          <p:cNvSpPr/>
          <p:nvPr/>
        </p:nvSpPr>
        <p:spPr>
          <a:xfrm>
            <a:off x="1033272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32720" y="1783080"/>
            <a:ext cx="365760" cy="457200"/>
          </a:xfrm>
          <a:prstGeom prst="rect">
            <a:avLst/>
          </a:prstGeom>
          <a:noFill/>
        </p:spPr>
        <p:txBody>
          <a:bodyPr wrap="square">
            <a:spAutoFit/>
          </a:bodyPr>
          <a:lstStyle/>
          <a:p>
            <a:pPr algn="ctr"/>
            <a:r>
              <a:rPr sz="900" b="1">
                <a:solidFill>
                  <a:srgbClr val="1E1E2E"/>
                </a:solidFill>
              </a:rPr>
              <a:t>-6</a:t>
            </a:r>
          </a:p>
        </p:txBody>
      </p:sp>
      <p:sp>
        <p:nvSpPr>
          <p:cNvPr id="47" name="Rectangle 46"/>
          <p:cNvSpPr/>
          <p:nvPr/>
        </p:nvSpPr>
        <p:spPr>
          <a:xfrm>
            <a:off x="1069848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1783080"/>
            <a:ext cx="365760" cy="457200"/>
          </a:xfrm>
          <a:prstGeom prst="rect">
            <a:avLst/>
          </a:prstGeom>
          <a:noFill/>
        </p:spPr>
        <p:txBody>
          <a:bodyPr wrap="square">
            <a:spAutoFit/>
          </a:bodyPr>
          <a:lstStyle/>
          <a:p>
            <a:pPr algn="ctr"/>
            <a:r>
              <a:rPr sz="900" b="1">
                <a:solidFill>
                  <a:srgbClr val="1E1E2E"/>
                </a:solidFill>
              </a:rPr>
              <a:t>-7</a:t>
            </a:r>
          </a:p>
        </p:txBody>
      </p:sp>
      <p:sp>
        <p:nvSpPr>
          <p:cNvPr id="49" name="Rectangle 48"/>
          <p:cNvSpPr/>
          <p:nvPr/>
        </p:nvSpPr>
        <p:spPr>
          <a:xfrm>
            <a:off x="1106424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64240" y="1783080"/>
            <a:ext cx="365760" cy="457200"/>
          </a:xfrm>
          <a:prstGeom prst="rect">
            <a:avLst/>
          </a:prstGeom>
          <a:noFill/>
        </p:spPr>
        <p:txBody>
          <a:bodyPr wrap="square">
            <a:spAutoFit/>
          </a:bodyPr>
          <a:lstStyle/>
          <a:p>
            <a:pPr algn="ctr"/>
            <a:r>
              <a:rPr sz="900" b="1">
                <a:solidFill>
                  <a:srgbClr val="1E1E2E"/>
                </a:solidFill>
              </a:rPr>
              <a:t>-8</a:t>
            </a:r>
          </a:p>
        </p:txBody>
      </p:sp>
      <p:sp>
        <p:nvSpPr>
          <p:cNvPr id="51" name="Rectangle 50"/>
          <p:cNvSpPr/>
          <p:nvPr/>
        </p:nvSpPr>
        <p:spPr>
          <a:xfrm>
            <a:off x="11430000" y="1783080"/>
            <a:ext cx="347472" cy="45720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30000" y="1783080"/>
            <a:ext cx="365760" cy="457200"/>
          </a:xfrm>
          <a:prstGeom prst="rect">
            <a:avLst/>
          </a:prstGeom>
          <a:noFill/>
        </p:spPr>
        <p:txBody>
          <a:bodyPr wrap="square">
            <a:spAutoFit/>
          </a:bodyPr>
          <a:lstStyle/>
          <a:p>
            <a:pPr algn="ctr"/>
            <a:r>
              <a:rPr sz="900" b="1">
                <a:solidFill>
                  <a:srgbClr val="1E1E2E"/>
                </a:solidFill>
              </a:rPr>
              <a:t>-9</a:t>
            </a:r>
          </a:p>
        </p:txBody>
      </p:sp>
      <p:sp>
        <p:nvSpPr>
          <p:cNvPr id="53" name="TextBox 52"/>
          <p:cNvSpPr txBox="1"/>
          <p:nvPr/>
        </p:nvSpPr>
        <p:spPr>
          <a:xfrm>
            <a:off x="5943600" y="2267712"/>
            <a:ext cx="2560320" cy="274320"/>
          </a:xfrm>
          <a:prstGeom prst="rect">
            <a:avLst/>
          </a:prstGeom>
          <a:noFill/>
        </p:spPr>
        <p:txBody>
          <a:bodyPr wrap="square">
            <a:spAutoFit/>
          </a:bodyPr>
          <a:lstStyle/>
          <a:p>
            <a:pPr algn="ctr"/>
            <a:r>
              <a:rPr sz="1000" b="0">
                <a:solidFill>
                  <a:srgbClr val="F38BA8"/>
                </a:solidFill>
              </a:rPr>
              <a:t>← Integer (7 bits, incl. sign) →</a:t>
            </a:r>
          </a:p>
        </p:txBody>
      </p:sp>
      <p:sp>
        <p:nvSpPr>
          <p:cNvPr id="54" name="TextBox 53"/>
          <p:cNvSpPr txBox="1"/>
          <p:nvPr/>
        </p:nvSpPr>
        <p:spPr>
          <a:xfrm>
            <a:off x="8503920" y="2267712"/>
            <a:ext cx="3291840" cy="274320"/>
          </a:xfrm>
          <a:prstGeom prst="rect">
            <a:avLst/>
          </a:prstGeom>
          <a:noFill/>
        </p:spPr>
        <p:txBody>
          <a:bodyPr wrap="square">
            <a:spAutoFit/>
          </a:bodyPr>
          <a:lstStyle/>
          <a:p>
            <a:pPr algn="ctr"/>
            <a:r>
              <a:rPr sz="1000" b="0">
                <a:solidFill>
                  <a:srgbClr val="A6E3A1"/>
                </a:solidFill>
              </a:rPr>
              <a:t>← Fraction (9 bits) →</a:t>
            </a:r>
          </a:p>
        </p:txBody>
      </p:sp>
      <p:sp>
        <p:nvSpPr>
          <p:cNvPr id="55" name="Rectangle 54"/>
          <p:cNvSpPr/>
          <p:nvPr/>
        </p:nvSpPr>
        <p:spPr>
          <a:xfrm>
            <a:off x="365760" y="3749039"/>
            <a:ext cx="11430000" cy="219456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2920" y="3840480"/>
            <a:ext cx="11155680" cy="2011680"/>
          </a:xfrm>
          <a:prstGeom prst="rect">
            <a:avLst/>
          </a:prstGeom>
          <a:noFill/>
        </p:spPr>
        <p:txBody>
          <a:bodyPr wrap="square">
            <a:spAutoFit/>
          </a:bodyPr>
          <a:lstStyle/>
          <a:p>
            <a:pPr algn="l"/>
            <a:r>
              <a:rPr sz="1300" b="0">
                <a:solidFill>
                  <a:srgbClr val="A6E3A1"/>
                </a:solidFill>
              </a:rPr>
              <a:t>def fixed_point_round(x):
    x = torch.clamp(x, -64, 64 - 2⁻⁹)
    x = torch.round(x * 512) / 512
    return x
# STE backward
def backward(ctx, grad):
    return grad  # pass-through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QAT Forward Graph</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Exact quantization insertion order from QUANTIZED_MNISTCNN.forward()</a:t>
            </a:r>
          </a:p>
        </p:txBody>
      </p:sp>
      <p:sp>
        <p:nvSpPr>
          <p:cNvPr id="5" name="Rectangle 4"/>
          <p:cNvSpPr/>
          <p:nvPr/>
        </p:nvSpPr>
        <p:spPr>
          <a:xfrm>
            <a:off x="228600" y="1417320"/>
            <a:ext cx="3749039" cy="347472"/>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2" y="1417320"/>
            <a:ext cx="3675887" cy="347472"/>
          </a:xfrm>
          <a:prstGeom prst="rect">
            <a:avLst/>
          </a:prstGeom>
          <a:noFill/>
        </p:spPr>
        <p:txBody>
          <a:bodyPr wrap="square">
            <a:spAutoFit/>
          </a:bodyPr>
          <a:lstStyle/>
          <a:p>
            <a:pPr algn="l"/>
            <a:r>
              <a:rPr sz="1100" b="0">
                <a:solidFill>
                  <a:srgbClr val="FFFFFF"/>
                </a:solidFill>
              </a:rPr>
              <a:t>INPUT x  —  Normalize(0.5, 0.5) → range [−1, +1]</a:t>
            </a:r>
          </a:p>
        </p:txBody>
      </p:sp>
      <p:sp>
        <p:nvSpPr>
          <p:cNvPr id="7" name="Rectangle 6"/>
          <p:cNvSpPr/>
          <p:nvPr/>
        </p:nvSpPr>
        <p:spPr>
          <a:xfrm>
            <a:off x="4069079" y="1417320"/>
            <a:ext cx="3749039"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42231" y="1417320"/>
            <a:ext cx="3675887" cy="347472"/>
          </a:xfrm>
          <a:prstGeom prst="rect">
            <a:avLst/>
          </a:prstGeom>
          <a:noFill/>
        </p:spPr>
        <p:txBody>
          <a:bodyPr wrap="square">
            <a:spAutoFit/>
          </a:bodyPr>
          <a:lstStyle/>
          <a:p>
            <a:pPr algn="l"/>
            <a:r>
              <a:rPr sz="1100" b="0">
                <a:solidFill>
                  <a:srgbClr val="FFFFFF"/>
                </a:solidFill>
              </a:rPr>
              <a:t>Q(x)  —  FixedPointQuantize  — input quantization</a:t>
            </a:r>
          </a:p>
        </p:txBody>
      </p:sp>
      <p:sp>
        <p:nvSpPr>
          <p:cNvPr id="9" name="Rectangle 8"/>
          <p:cNvSpPr/>
          <p:nvPr/>
        </p:nvSpPr>
        <p:spPr>
          <a:xfrm>
            <a:off x="7909558" y="1417320"/>
            <a:ext cx="3749039" cy="34747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0" y="1417320"/>
            <a:ext cx="3675887" cy="347472"/>
          </a:xfrm>
          <a:prstGeom prst="rect">
            <a:avLst/>
          </a:prstGeom>
          <a:noFill/>
        </p:spPr>
        <p:txBody>
          <a:bodyPr wrap="square">
            <a:spAutoFit/>
          </a:bodyPr>
          <a:lstStyle/>
          <a:p>
            <a:pPr algn="l"/>
            <a:r>
              <a:rPr sz="1100" b="0">
                <a:solidFill>
                  <a:srgbClr val="1E1E2E"/>
                </a:solidFill>
              </a:rPr>
              <a:t>QuantizedConv2d 1  —  q_w = Q(self.weight),  q_b = Q(self.bias)</a:t>
            </a:r>
          </a:p>
        </p:txBody>
      </p:sp>
      <p:sp>
        <p:nvSpPr>
          <p:cNvPr id="11" name="Rectangle 10"/>
          <p:cNvSpPr/>
          <p:nvPr/>
        </p:nvSpPr>
        <p:spPr>
          <a:xfrm>
            <a:off x="228600" y="1801368"/>
            <a:ext cx="3749039"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 y="1801368"/>
            <a:ext cx="3675887" cy="347472"/>
          </a:xfrm>
          <a:prstGeom prst="rect">
            <a:avLst/>
          </a:prstGeom>
          <a:noFill/>
        </p:spPr>
        <p:txBody>
          <a:bodyPr wrap="square">
            <a:spAutoFit/>
          </a:bodyPr>
          <a:lstStyle/>
          <a:p>
            <a:pPr algn="l"/>
            <a:r>
              <a:rPr sz="1100" b="0">
                <a:solidFill>
                  <a:srgbClr val="FFFFFF"/>
                </a:solidFill>
              </a:rPr>
              <a:t>Q(conv1 out)  —  FixedPointQuantize  — before ReLU</a:t>
            </a:r>
          </a:p>
        </p:txBody>
      </p:sp>
      <p:sp>
        <p:nvSpPr>
          <p:cNvPr id="13" name="Rectangle 12"/>
          <p:cNvSpPr/>
          <p:nvPr/>
        </p:nvSpPr>
        <p:spPr>
          <a:xfrm>
            <a:off x="4069079" y="1801368"/>
            <a:ext cx="3749039" cy="347472"/>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42231" y="1801368"/>
            <a:ext cx="3675887" cy="347472"/>
          </a:xfrm>
          <a:prstGeom prst="rect">
            <a:avLst/>
          </a:prstGeom>
          <a:noFill/>
        </p:spPr>
        <p:txBody>
          <a:bodyPr wrap="square">
            <a:spAutoFit/>
          </a:bodyPr>
          <a:lstStyle/>
          <a:p>
            <a:pPr algn="l"/>
            <a:r>
              <a:rPr sz="1100" b="0">
                <a:solidFill>
                  <a:srgbClr val="1E1E2E"/>
                </a:solidFill>
              </a:rPr>
              <a:t>ReLU  —  in-place clamp ≥ 0</a:t>
            </a:r>
          </a:p>
        </p:txBody>
      </p:sp>
      <p:sp>
        <p:nvSpPr>
          <p:cNvPr id="15" name="Rectangle 14"/>
          <p:cNvSpPr/>
          <p:nvPr/>
        </p:nvSpPr>
        <p:spPr>
          <a:xfrm>
            <a:off x="7909558" y="1801368"/>
            <a:ext cx="3749039" cy="34747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0" y="1801368"/>
            <a:ext cx="3675887" cy="347472"/>
          </a:xfrm>
          <a:prstGeom prst="rect">
            <a:avLst/>
          </a:prstGeom>
          <a:noFill/>
        </p:spPr>
        <p:txBody>
          <a:bodyPr wrap="square">
            <a:spAutoFit/>
          </a:bodyPr>
          <a:lstStyle/>
          <a:p>
            <a:pPr algn="l"/>
            <a:r>
              <a:rPr sz="1100" b="0">
                <a:solidFill>
                  <a:srgbClr val="1E1E2E"/>
                </a:solidFill>
              </a:rPr>
              <a:t>QuantizedConv2d 2  —  same pattern</a:t>
            </a:r>
          </a:p>
        </p:txBody>
      </p:sp>
      <p:sp>
        <p:nvSpPr>
          <p:cNvPr id="17" name="Rectangle 16"/>
          <p:cNvSpPr/>
          <p:nvPr/>
        </p:nvSpPr>
        <p:spPr>
          <a:xfrm>
            <a:off x="228600" y="2185416"/>
            <a:ext cx="3749039"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 y="2185416"/>
            <a:ext cx="3675887" cy="347472"/>
          </a:xfrm>
          <a:prstGeom prst="rect">
            <a:avLst/>
          </a:prstGeom>
          <a:noFill/>
        </p:spPr>
        <p:txBody>
          <a:bodyPr wrap="square">
            <a:spAutoFit/>
          </a:bodyPr>
          <a:lstStyle/>
          <a:p>
            <a:pPr algn="l"/>
            <a:r>
              <a:rPr sz="1100" b="0">
                <a:solidFill>
                  <a:srgbClr val="FFFFFF"/>
                </a:solidFill>
              </a:rPr>
              <a:t>Q(conv2 out)  —  FixedPointQuantize</a:t>
            </a:r>
          </a:p>
        </p:txBody>
      </p:sp>
      <p:sp>
        <p:nvSpPr>
          <p:cNvPr id="19" name="Rectangle 18"/>
          <p:cNvSpPr/>
          <p:nvPr/>
        </p:nvSpPr>
        <p:spPr>
          <a:xfrm>
            <a:off x="4069079" y="2185416"/>
            <a:ext cx="3749039" cy="347472"/>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42231" y="2185416"/>
            <a:ext cx="3675887" cy="347472"/>
          </a:xfrm>
          <a:prstGeom prst="rect">
            <a:avLst/>
          </a:prstGeom>
          <a:noFill/>
        </p:spPr>
        <p:txBody>
          <a:bodyPr wrap="square">
            <a:spAutoFit/>
          </a:bodyPr>
          <a:lstStyle/>
          <a:p>
            <a:pPr algn="l"/>
            <a:r>
              <a:rPr sz="1100" b="0">
                <a:solidFill>
                  <a:srgbClr val="1E1E2E"/>
                </a:solidFill>
              </a:rPr>
              <a:t>ReLU</a:t>
            </a:r>
          </a:p>
        </p:txBody>
      </p:sp>
      <p:sp>
        <p:nvSpPr>
          <p:cNvPr id="21" name="Rectangle 20"/>
          <p:cNvSpPr/>
          <p:nvPr/>
        </p:nvSpPr>
        <p:spPr>
          <a:xfrm>
            <a:off x="7909558" y="2185416"/>
            <a:ext cx="3749039" cy="34747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0" y="2185416"/>
            <a:ext cx="3675887" cy="347472"/>
          </a:xfrm>
          <a:prstGeom prst="rect">
            <a:avLst/>
          </a:prstGeom>
          <a:noFill/>
        </p:spPr>
        <p:txBody>
          <a:bodyPr wrap="square">
            <a:spAutoFit/>
          </a:bodyPr>
          <a:lstStyle/>
          <a:p>
            <a:pPr algn="l"/>
            <a:r>
              <a:rPr sz="1100" b="0">
                <a:solidFill>
                  <a:srgbClr val="1E1E2E"/>
                </a:solidFill>
              </a:rPr>
              <a:t>QuantizedConv2d 3</a:t>
            </a:r>
          </a:p>
        </p:txBody>
      </p:sp>
      <p:sp>
        <p:nvSpPr>
          <p:cNvPr id="23" name="Rectangle 22"/>
          <p:cNvSpPr/>
          <p:nvPr/>
        </p:nvSpPr>
        <p:spPr>
          <a:xfrm>
            <a:off x="228600" y="2569464"/>
            <a:ext cx="3749039"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 y="2569464"/>
            <a:ext cx="3675887" cy="347472"/>
          </a:xfrm>
          <a:prstGeom prst="rect">
            <a:avLst/>
          </a:prstGeom>
          <a:noFill/>
        </p:spPr>
        <p:txBody>
          <a:bodyPr wrap="square">
            <a:spAutoFit/>
          </a:bodyPr>
          <a:lstStyle/>
          <a:p>
            <a:pPr algn="l"/>
            <a:r>
              <a:rPr sz="1100" b="0">
                <a:solidFill>
                  <a:srgbClr val="FFFFFF"/>
                </a:solidFill>
              </a:rPr>
              <a:t>Q(conv3 out)  —  FixedPointQuantize</a:t>
            </a:r>
          </a:p>
        </p:txBody>
      </p:sp>
      <p:sp>
        <p:nvSpPr>
          <p:cNvPr id="25" name="Rectangle 24"/>
          <p:cNvSpPr/>
          <p:nvPr/>
        </p:nvSpPr>
        <p:spPr>
          <a:xfrm>
            <a:off x="4069079" y="2569464"/>
            <a:ext cx="3749039" cy="347472"/>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42231" y="2569464"/>
            <a:ext cx="3675887" cy="347472"/>
          </a:xfrm>
          <a:prstGeom prst="rect">
            <a:avLst/>
          </a:prstGeom>
          <a:noFill/>
        </p:spPr>
        <p:txBody>
          <a:bodyPr wrap="square">
            <a:spAutoFit/>
          </a:bodyPr>
          <a:lstStyle/>
          <a:p>
            <a:pPr algn="l"/>
            <a:r>
              <a:rPr sz="1100" b="0">
                <a:solidFill>
                  <a:srgbClr val="1E1E2E"/>
                </a:solidFill>
              </a:rPr>
              <a:t>ReLU</a:t>
            </a:r>
          </a:p>
        </p:txBody>
      </p:sp>
      <p:sp>
        <p:nvSpPr>
          <p:cNvPr id="27" name="Rectangle 26"/>
          <p:cNvSpPr/>
          <p:nvPr/>
        </p:nvSpPr>
        <p:spPr>
          <a:xfrm>
            <a:off x="7909558" y="2569464"/>
            <a:ext cx="3749039" cy="347472"/>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0" y="2569464"/>
            <a:ext cx="3675887" cy="347472"/>
          </a:xfrm>
          <a:prstGeom prst="rect">
            <a:avLst/>
          </a:prstGeom>
          <a:noFill/>
        </p:spPr>
        <p:txBody>
          <a:bodyPr wrap="square">
            <a:spAutoFit/>
          </a:bodyPr>
          <a:lstStyle/>
          <a:p>
            <a:pPr algn="l"/>
            <a:r>
              <a:rPr sz="1100" b="0">
                <a:solidFill>
                  <a:srgbClr val="FFFFFF"/>
                </a:solidFill>
              </a:rPr>
              <a:t>MaxPool2d(2)  —  kernel 2×2</a:t>
            </a:r>
          </a:p>
        </p:txBody>
      </p:sp>
      <p:sp>
        <p:nvSpPr>
          <p:cNvPr id="29" name="Rectangle 28"/>
          <p:cNvSpPr/>
          <p:nvPr/>
        </p:nvSpPr>
        <p:spPr>
          <a:xfrm>
            <a:off x="228600" y="2953512"/>
            <a:ext cx="3749039"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 y="2953512"/>
            <a:ext cx="3675887" cy="347472"/>
          </a:xfrm>
          <a:prstGeom prst="rect">
            <a:avLst/>
          </a:prstGeom>
          <a:noFill/>
        </p:spPr>
        <p:txBody>
          <a:bodyPr wrap="square">
            <a:spAutoFit/>
          </a:bodyPr>
          <a:lstStyle/>
          <a:p>
            <a:pPr algn="l"/>
            <a:r>
              <a:rPr sz="1100" b="0">
                <a:solidFill>
                  <a:srgbClr val="FFFFFF"/>
                </a:solidFill>
              </a:rPr>
              <a:t>Q(pool out)  —  FixedPointQuantize  — after pool</a:t>
            </a:r>
          </a:p>
        </p:txBody>
      </p:sp>
      <p:sp>
        <p:nvSpPr>
          <p:cNvPr id="31" name="Rectangle 30"/>
          <p:cNvSpPr/>
          <p:nvPr/>
        </p:nvSpPr>
        <p:spPr>
          <a:xfrm>
            <a:off x="4069079" y="2953512"/>
            <a:ext cx="3749039" cy="347472"/>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42231" y="2953512"/>
            <a:ext cx="3675887" cy="347472"/>
          </a:xfrm>
          <a:prstGeom prst="rect">
            <a:avLst/>
          </a:prstGeom>
          <a:noFill/>
        </p:spPr>
        <p:txBody>
          <a:bodyPr wrap="square">
            <a:spAutoFit/>
          </a:bodyPr>
          <a:lstStyle/>
          <a:p>
            <a:pPr algn="l"/>
            <a:r>
              <a:rPr sz="1100" b="0">
                <a:solidFill>
                  <a:srgbClr val="1E1E2E"/>
                </a:solidFill>
              </a:rPr>
              <a:t>Flatten → FC  —  QuantizedLinear(3872→10)</a:t>
            </a:r>
          </a:p>
        </p:txBody>
      </p:sp>
      <p:sp>
        <p:nvSpPr>
          <p:cNvPr id="33" name="Rectangle 32"/>
          <p:cNvSpPr/>
          <p:nvPr/>
        </p:nvSpPr>
        <p:spPr>
          <a:xfrm>
            <a:off x="7909558" y="2953512"/>
            <a:ext cx="3749039" cy="347472"/>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0" y="2953512"/>
            <a:ext cx="3675887" cy="347472"/>
          </a:xfrm>
          <a:prstGeom prst="rect">
            <a:avLst/>
          </a:prstGeom>
          <a:noFill/>
        </p:spPr>
        <p:txBody>
          <a:bodyPr wrap="square">
            <a:spAutoFit/>
          </a:bodyPr>
          <a:lstStyle/>
          <a:p>
            <a:pPr algn="l"/>
            <a:r>
              <a:rPr sz="1100" b="0">
                <a:solidFill>
                  <a:srgbClr val="FFFFFF"/>
                </a:solidFill>
              </a:rPr>
              <a:t>Logits  —  CrossEntropyLoss during 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Training Setup</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Hyperparameters and environment — from notebook cells</a:t>
            </a:r>
          </a:p>
        </p:txBody>
      </p:sp>
      <p:graphicFrame>
        <p:nvGraphicFramePr>
          <p:cNvPr id="5" name="Table 4"/>
          <p:cNvGraphicFramePr>
            <a:graphicFrameLocks noGrp="1"/>
          </p:cNvGraphicFramePr>
          <p:nvPr/>
        </p:nvGraphicFramePr>
        <p:xfrm>
          <a:off x="457200" y="1463040"/>
          <a:ext cx="11247119" cy="5120640"/>
        </p:xfrm>
        <a:graphic>
          <a:graphicData uri="http://schemas.openxmlformats.org/drawingml/2006/table">
            <a:tbl>
              <a:tblPr firstRow="1" bandRow="1">
                <a:tableStyleId>{5C22544A-7EE6-4342-B048-85BDC9FD1C3A}</a:tableStyleId>
              </a:tblPr>
              <a:tblGrid>
                <a:gridCol w="3149193"/>
                <a:gridCol w="8097926"/>
              </a:tblGrid>
              <a:tr h="465512">
                <a:tc>
                  <a:txBody>
                    <a:bodyPr/>
                    <a:lstStyle/>
                    <a:p>
                      <a:pPr algn="ctr"/>
                      <a:r>
                        <a:rPr sz="1400" b="1">
                          <a:solidFill>
                            <a:srgbClr val="1E1E2E"/>
                          </a:solidFill>
                        </a:rPr>
                        <a:t>Parameter</a:t>
                      </a:r>
                    </a:p>
                  </a:txBody>
                  <a:tcPr>
                    <a:solidFill>
                      <a:srgbClr val="74C7EC"/>
                    </a:solidFill>
                  </a:tcPr>
                </a:tc>
                <a:tc>
                  <a:txBody>
                    <a:bodyPr/>
                    <a:lstStyle/>
                    <a:p>
                      <a:pPr algn="ctr"/>
                      <a:r>
                        <a:rPr sz="1400" b="1">
                          <a:solidFill>
                            <a:srgbClr val="1E1E2E"/>
                          </a:solidFill>
                        </a:rPr>
                        <a:t>Value</a:t>
                      </a:r>
                    </a:p>
                  </a:txBody>
                  <a:tcPr>
                    <a:solidFill>
                      <a:srgbClr val="74C7EC"/>
                    </a:solidFill>
                  </a:tcPr>
                </a:tc>
              </a:tr>
              <a:tr h="465512">
                <a:tc>
                  <a:txBody>
                    <a:bodyPr/>
                    <a:lstStyle/>
                    <a:p>
                      <a:pPr algn="ctr"/>
                      <a:r>
                        <a:rPr sz="1300" b="0">
                          <a:solidFill>
                            <a:srgbClr val="FFFFFF"/>
                          </a:solidFill>
                        </a:rPr>
                        <a:t>Framework</a:t>
                      </a:r>
                    </a:p>
                  </a:txBody>
                  <a:tcPr>
                    <a:solidFill>
                      <a:srgbClr val="313244"/>
                    </a:solidFill>
                  </a:tcPr>
                </a:tc>
                <a:tc>
                  <a:txBody>
                    <a:bodyPr/>
                    <a:lstStyle/>
                    <a:p>
                      <a:pPr algn="ctr"/>
                      <a:r>
                        <a:rPr sz="1300" b="0">
                          <a:solidFill>
                            <a:srgbClr val="FFFFFF"/>
                          </a:solidFill>
                        </a:rPr>
                        <a:t>PyTorch + torchvision  (Colab, T4 GPU)</a:t>
                      </a:r>
                    </a:p>
                  </a:txBody>
                  <a:tcPr>
                    <a:solidFill>
                      <a:srgbClr val="313244"/>
                    </a:solidFill>
                  </a:tcPr>
                </a:tc>
              </a:tr>
              <a:tr h="465512">
                <a:tc>
                  <a:txBody>
                    <a:bodyPr/>
                    <a:lstStyle/>
                    <a:p>
                      <a:pPr algn="ctr"/>
                      <a:r>
                        <a:rPr sz="1300" b="0">
                          <a:solidFill>
                            <a:srgbClr val="FFFFFF"/>
                          </a:solidFill>
                        </a:rPr>
                        <a:t>Model class</a:t>
                      </a:r>
                    </a:p>
                  </a:txBody>
                  <a:tcPr>
                    <a:solidFill>
                      <a:srgbClr val="1E1E2E"/>
                    </a:solidFill>
                  </a:tcPr>
                </a:tc>
                <a:tc>
                  <a:txBody>
                    <a:bodyPr/>
                    <a:lstStyle/>
                    <a:p>
                      <a:pPr algn="ctr"/>
                      <a:r>
                        <a:rPr sz="1300" b="0">
                          <a:solidFill>
                            <a:srgbClr val="FFFFFF"/>
                          </a:solidFill>
                        </a:rPr>
                        <a:t>QUANTIZED_MNISTCNN</a:t>
                      </a:r>
                    </a:p>
                  </a:txBody>
                  <a:tcPr>
                    <a:solidFill>
                      <a:srgbClr val="1E1E2E"/>
                    </a:solidFill>
                  </a:tcPr>
                </a:tc>
              </a:tr>
              <a:tr h="465512">
                <a:tc>
                  <a:txBody>
                    <a:bodyPr/>
                    <a:lstStyle/>
                    <a:p>
                      <a:pPr algn="ctr"/>
                      <a:r>
                        <a:rPr sz="1300" b="0">
                          <a:solidFill>
                            <a:srgbClr val="FFFFFF"/>
                          </a:solidFill>
                        </a:rPr>
                        <a:t>Optimizer</a:t>
                      </a:r>
                    </a:p>
                  </a:txBody>
                  <a:tcPr>
                    <a:solidFill>
                      <a:srgbClr val="313244"/>
                    </a:solidFill>
                  </a:tcPr>
                </a:tc>
                <a:tc>
                  <a:txBody>
                    <a:bodyPr/>
                    <a:lstStyle/>
                    <a:p>
                      <a:pPr algn="ctr"/>
                      <a:r>
                        <a:rPr sz="1300" b="0">
                          <a:solidFill>
                            <a:srgbClr val="FFFFFF"/>
                          </a:solidFill>
                        </a:rPr>
                        <a:t>Adam</a:t>
                      </a:r>
                    </a:p>
                  </a:txBody>
                  <a:tcPr>
                    <a:solidFill>
                      <a:srgbClr val="313244"/>
                    </a:solidFill>
                  </a:tcPr>
                </a:tc>
              </a:tr>
              <a:tr h="465512">
                <a:tc>
                  <a:txBody>
                    <a:bodyPr/>
                    <a:lstStyle/>
                    <a:p>
                      <a:pPr algn="ctr"/>
                      <a:r>
                        <a:rPr sz="1300" b="0">
                          <a:solidFill>
                            <a:srgbClr val="FFFFFF"/>
                          </a:solidFill>
                        </a:rPr>
                        <a:t>Learning rate</a:t>
                      </a:r>
                    </a:p>
                  </a:txBody>
                  <a:tcPr>
                    <a:solidFill>
                      <a:srgbClr val="1E1E2E"/>
                    </a:solidFill>
                  </a:tcPr>
                </a:tc>
                <a:tc>
                  <a:txBody>
                    <a:bodyPr/>
                    <a:lstStyle/>
                    <a:p>
                      <a:pPr algn="ctr"/>
                      <a:r>
                        <a:rPr sz="1300" b="0">
                          <a:solidFill>
                            <a:srgbClr val="FFFFFF"/>
                          </a:solidFill>
                        </a:rPr>
                        <a:t>1 × 10⁻³</a:t>
                      </a:r>
                    </a:p>
                  </a:txBody>
                  <a:tcPr>
                    <a:solidFill>
                      <a:srgbClr val="1E1E2E"/>
                    </a:solidFill>
                  </a:tcPr>
                </a:tc>
              </a:tr>
              <a:tr h="465512">
                <a:tc>
                  <a:txBody>
                    <a:bodyPr/>
                    <a:lstStyle/>
                    <a:p>
                      <a:pPr algn="ctr"/>
                      <a:r>
                        <a:rPr sz="1300" b="0">
                          <a:solidFill>
                            <a:srgbClr val="FFFFFF"/>
                          </a:solidFill>
                        </a:rPr>
                        <a:t>Batch size</a:t>
                      </a:r>
                    </a:p>
                  </a:txBody>
                  <a:tcPr>
                    <a:solidFill>
                      <a:srgbClr val="313244"/>
                    </a:solidFill>
                  </a:tcPr>
                </a:tc>
                <a:tc>
                  <a:txBody>
                    <a:bodyPr/>
                    <a:lstStyle/>
                    <a:p>
                      <a:pPr algn="ctr"/>
                      <a:r>
                        <a:rPr sz="1300" b="0">
                          <a:solidFill>
                            <a:srgbClr val="FFFFFF"/>
                          </a:solidFill>
                        </a:rPr>
                        <a:t>256</a:t>
                      </a:r>
                    </a:p>
                  </a:txBody>
                  <a:tcPr>
                    <a:solidFill>
                      <a:srgbClr val="313244"/>
                    </a:solidFill>
                  </a:tcPr>
                </a:tc>
              </a:tr>
              <a:tr h="465512">
                <a:tc>
                  <a:txBody>
                    <a:bodyPr/>
                    <a:lstStyle/>
                    <a:p>
                      <a:pPr algn="ctr"/>
                      <a:r>
                        <a:rPr sz="1300" b="0">
                          <a:solidFill>
                            <a:srgbClr val="FFFFFF"/>
                          </a:solidFill>
                        </a:rPr>
                        <a:t>Epochs</a:t>
                      </a:r>
                    </a:p>
                  </a:txBody>
                  <a:tcPr>
                    <a:solidFill>
                      <a:srgbClr val="1E1E2E"/>
                    </a:solidFill>
                  </a:tcPr>
                </a:tc>
                <a:tc>
                  <a:txBody>
                    <a:bodyPr/>
                    <a:lstStyle/>
                    <a:p>
                      <a:pPr algn="ctr"/>
                      <a:r>
                        <a:rPr sz="1300" b="0">
                          <a:solidFill>
                            <a:srgbClr val="FFFFFF"/>
                          </a:solidFill>
                        </a:rPr>
                        <a:t>5</a:t>
                      </a:r>
                    </a:p>
                  </a:txBody>
                  <a:tcPr>
                    <a:solidFill>
                      <a:srgbClr val="1E1E2E"/>
                    </a:solidFill>
                  </a:tcPr>
                </a:tc>
              </a:tr>
              <a:tr h="465512">
                <a:tc>
                  <a:txBody>
                    <a:bodyPr/>
                    <a:lstStyle/>
                    <a:p>
                      <a:pPr algn="ctr"/>
                      <a:r>
                        <a:rPr sz="1300" b="0">
                          <a:solidFill>
                            <a:srgbClr val="FFFFFF"/>
                          </a:solidFill>
                        </a:rPr>
                        <a:t>Loss function</a:t>
                      </a:r>
                    </a:p>
                  </a:txBody>
                  <a:tcPr>
                    <a:solidFill>
                      <a:srgbClr val="313244"/>
                    </a:solidFill>
                  </a:tcPr>
                </a:tc>
                <a:tc>
                  <a:txBody>
                    <a:bodyPr/>
                    <a:lstStyle/>
                    <a:p>
                      <a:pPr algn="ctr"/>
                      <a:r>
                        <a:rPr sz="1300" b="0">
                          <a:solidFill>
                            <a:srgbClr val="FFFFFF"/>
                          </a:solidFill>
                        </a:rPr>
                        <a:t>CrossEntropyLoss</a:t>
                      </a:r>
                    </a:p>
                  </a:txBody>
                  <a:tcPr>
                    <a:solidFill>
                      <a:srgbClr val="313244"/>
                    </a:solidFill>
                  </a:tcPr>
                </a:tc>
              </a:tr>
              <a:tr h="465512">
                <a:tc>
                  <a:txBody>
                    <a:bodyPr/>
                    <a:lstStyle/>
                    <a:p>
                      <a:pPr algn="ctr"/>
                      <a:r>
                        <a:rPr sz="1300" b="0">
                          <a:solidFill>
                            <a:srgbClr val="FFFFFF"/>
                          </a:solidFill>
                        </a:rPr>
                        <a:t>Input preprocessing</a:t>
                      </a:r>
                    </a:p>
                  </a:txBody>
                  <a:tcPr>
                    <a:solidFill>
                      <a:srgbClr val="1E1E2E"/>
                    </a:solidFill>
                  </a:tcPr>
                </a:tc>
                <a:tc>
                  <a:txBody>
                    <a:bodyPr/>
                    <a:lstStyle/>
                    <a:p>
                      <a:pPr algn="ctr"/>
                      <a:r>
                        <a:rPr sz="1300" b="0">
                          <a:solidFill>
                            <a:srgbClr val="FFFFFF"/>
                          </a:solidFill>
                        </a:rPr>
                        <a:t>ToTensor  +  Normalize(mean=0.5, std=0.5)  →  [−1, +1]</a:t>
                      </a:r>
                    </a:p>
                  </a:txBody>
                  <a:tcPr>
                    <a:solidFill>
                      <a:srgbClr val="1E1E2E"/>
                    </a:solidFill>
                  </a:tcPr>
                </a:tc>
              </a:tr>
              <a:tr h="465512">
                <a:tc>
                  <a:txBody>
                    <a:bodyPr/>
                    <a:lstStyle/>
                    <a:p>
                      <a:pPr algn="ctr"/>
                      <a:r>
                        <a:rPr sz="1300" b="0">
                          <a:solidFill>
                            <a:srgbClr val="FFFFFF"/>
                          </a:solidFill>
                        </a:rPr>
                        <a:t>Data split</a:t>
                      </a:r>
                    </a:p>
                  </a:txBody>
                  <a:tcPr>
                    <a:solidFill>
                      <a:srgbClr val="313244"/>
                    </a:solidFill>
                  </a:tcPr>
                </a:tc>
                <a:tc>
                  <a:txBody>
                    <a:bodyPr/>
                    <a:lstStyle/>
                    <a:p>
                      <a:pPr algn="ctr"/>
                      <a:r>
                        <a:rPr sz="1300" b="0">
                          <a:solidFill>
                            <a:srgbClr val="FFFFFF"/>
                          </a:solidFill>
                        </a:rPr>
                        <a:t>train: 60 000   test: 10 000   total eval: 70 000</a:t>
                      </a:r>
                    </a:p>
                  </a:txBody>
                  <a:tcPr>
                    <a:solidFill>
                      <a:srgbClr val="313244"/>
                    </a:solidFill>
                  </a:tcPr>
                </a:tc>
              </a:tr>
              <a:tr h="465520">
                <a:tc>
                  <a:txBody>
                    <a:bodyPr/>
                    <a:lstStyle/>
                    <a:p>
                      <a:pPr algn="ctr"/>
                      <a:r>
                        <a:rPr sz="1300" b="0">
                          <a:solidFill>
                            <a:srgbClr val="FFFFFF"/>
                          </a:solidFill>
                        </a:rPr>
                        <a:t>Checkpoint saves</a:t>
                      </a:r>
                    </a:p>
                  </a:txBody>
                  <a:tcPr>
                    <a:solidFill>
                      <a:srgbClr val="1E1E2E"/>
                    </a:solidFill>
                  </a:tcPr>
                </a:tc>
                <a:tc>
                  <a:txBody>
                    <a:bodyPr/>
                    <a:lstStyle/>
                    <a:p>
                      <a:pPr algn="ctr"/>
                      <a:r>
                        <a:rPr sz="1300" b="0">
                          <a:solidFill>
                            <a:srgbClr val="FFFFFF"/>
                          </a:solidFill>
                        </a:rPr>
                        <a:t>Best test accuracy (each epoch saved if improved)</a:t>
                      </a:r>
                    </a:p>
                  </a:txBody>
                  <a:tcPr>
                    <a:solidFill>
                      <a:srgbClr val="1E1E2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Training Results — Epoch Log</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QUANTIZED_MNISTCNN · 5 epochs · Adam lr=1e-3 · batch=256</a:t>
            </a:r>
          </a:p>
        </p:txBody>
      </p:sp>
      <p:graphicFrame>
        <p:nvGraphicFramePr>
          <p:cNvPr id="5" name="Table 4"/>
          <p:cNvGraphicFramePr>
            <a:graphicFrameLocks noGrp="1"/>
          </p:cNvGraphicFramePr>
          <p:nvPr/>
        </p:nvGraphicFramePr>
        <p:xfrm>
          <a:off x="457200" y="1463040"/>
          <a:ext cx="9897465" cy="2514600"/>
        </p:xfrm>
        <a:graphic>
          <a:graphicData uri="http://schemas.openxmlformats.org/drawingml/2006/table">
            <a:tbl>
              <a:tblPr firstRow="1" bandRow="1">
                <a:tableStyleId>{5C22544A-7EE6-4342-B048-85BDC9FD1C3A}</a:tableStyleId>
              </a:tblPr>
              <a:tblGrid>
                <a:gridCol w="899769"/>
                <a:gridCol w="1687068"/>
                <a:gridCol w="1687068"/>
                <a:gridCol w="1687068"/>
                <a:gridCol w="1687068"/>
                <a:gridCol w="2249424"/>
              </a:tblGrid>
              <a:tr h="419100">
                <a:tc>
                  <a:txBody>
                    <a:bodyPr/>
                    <a:lstStyle/>
                    <a:p>
                      <a:pPr algn="ctr"/>
                      <a:r>
                        <a:rPr sz="1400" b="1">
                          <a:solidFill>
                            <a:srgbClr val="1E1E2E"/>
                          </a:solidFill>
                        </a:rPr>
                        <a:t>Epoch</a:t>
                      </a:r>
                    </a:p>
                  </a:txBody>
                  <a:tcPr>
                    <a:solidFill>
                      <a:srgbClr val="74C7EC"/>
                    </a:solidFill>
                  </a:tcPr>
                </a:tc>
                <a:tc>
                  <a:txBody>
                    <a:bodyPr/>
                    <a:lstStyle/>
                    <a:p>
                      <a:pPr algn="ctr"/>
                      <a:r>
                        <a:rPr sz="1400" b="1">
                          <a:solidFill>
                            <a:srgbClr val="1E1E2E"/>
                          </a:solidFill>
                        </a:rPr>
                        <a:t>Train Acc</a:t>
                      </a:r>
                    </a:p>
                  </a:txBody>
                  <a:tcPr>
                    <a:solidFill>
                      <a:srgbClr val="74C7EC"/>
                    </a:solidFill>
                  </a:tcPr>
                </a:tc>
                <a:tc>
                  <a:txBody>
                    <a:bodyPr/>
                    <a:lstStyle/>
                    <a:p>
                      <a:pPr algn="ctr"/>
                      <a:r>
                        <a:rPr sz="1400" b="1">
                          <a:solidFill>
                            <a:srgbClr val="1E1E2E"/>
                          </a:solidFill>
                        </a:rPr>
                        <a:t>Train Loss</a:t>
                      </a:r>
                    </a:p>
                  </a:txBody>
                  <a:tcPr>
                    <a:solidFill>
                      <a:srgbClr val="74C7EC"/>
                    </a:solidFill>
                  </a:tcPr>
                </a:tc>
                <a:tc>
                  <a:txBody>
                    <a:bodyPr/>
                    <a:lstStyle/>
                    <a:p>
                      <a:pPr algn="ctr"/>
                      <a:r>
                        <a:rPr sz="1400" b="1">
                          <a:solidFill>
                            <a:srgbClr val="1E1E2E"/>
                          </a:solidFill>
                        </a:rPr>
                        <a:t>Test Acc</a:t>
                      </a:r>
                    </a:p>
                  </a:txBody>
                  <a:tcPr>
                    <a:solidFill>
                      <a:srgbClr val="74C7EC"/>
                    </a:solidFill>
                  </a:tcPr>
                </a:tc>
                <a:tc>
                  <a:txBody>
                    <a:bodyPr/>
                    <a:lstStyle/>
                    <a:p>
                      <a:pPr algn="ctr"/>
                      <a:r>
                        <a:rPr sz="1400" b="1">
                          <a:solidFill>
                            <a:srgbClr val="1E1E2E"/>
                          </a:solidFill>
                        </a:rPr>
                        <a:t>Test Loss</a:t>
                      </a:r>
                    </a:p>
                  </a:txBody>
                  <a:tcPr>
                    <a:solidFill>
                      <a:srgbClr val="74C7EC"/>
                    </a:solidFill>
                  </a:tcPr>
                </a:tc>
                <a:tc>
                  <a:txBody>
                    <a:bodyPr/>
                    <a:lstStyle/>
                    <a:p>
                      <a:pPr algn="ctr"/>
                      <a:r>
                        <a:rPr sz="1400" b="1">
                          <a:solidFill>
                            <a:srgbClr val="1E1E2E"/>
                          </a:solidFill>
                        </a:rPr>
                        <a:t>Saved?</a:t>
                      </a:r>
                    </a:p>
                  </a:txBody>
                  <a:tcPr>
                    <a:solidFill>
                      <a:srgbClr val="74C7EC"/>
                    </a:solidFill>
                  </a:tcPr>
                </a:tc>
              </a:tr>
              <a:tr h="419100">
                <a:tc>
                  <a:txBody>
                    <a:bodyPr/>
                    <a:lstStyle/>
                    <a:p>
                      <a:pPr algn="ctr"/>
                      <a:r>
                        <a:rPr sz="1300" b="0">
                          <a:solidFill>
                            <a:srgbClr val="FFFFFF"/>
                          </a:solidFill>
                        </a:rPr>
                        <a:t>0</a:t>
                      </a:r>
                    </a:p>
                  </a:txBody>
                  <a:tcPr>
                    <a:solidFill>
                      <a:srgbClr val="313244"/>
                    </a:solidFill>
                  </a:tcPr>
                </a:tc>
                <a:tc>
                  <a:txBody>
                    <a:bodyPr/>
                    <a:lstStyle/>
                    <a:p>
                      <a:pPr algn="ctr"/>
                      <a:r>
                        <a:rPr sz="1300" b="0">
                          <a:solidFill>
                            <a:srgbClr val="FFFFFF"/>
                          </a:solidFill>
                        </a:rPr>
                        <a:t>91.69 %</a:t>
                      </a:r>
                    </a:p>
                  </a:txBody>
                  <a:tcPr>
                    <a:solidFill>
                      <a:srgbClr val="313244"/>
                    </a:solidFill>
                  </a:tcPr>
                </a:tc>
                <a:tc>
                  <a:txBody>
                    <a:bodyPr/>
                    <a:lstStyle/>
                    <a:p>
                      <a:pPr algn="ctr"/>
                      <a:r>
                        <a:rPr sz="1300" b="0">
                          <a:solidFill>
                            <a:srgbClr val="FFFFFF"/>
                          </a:solidFill>
                        </a:rPr>
                        <a:t>0.29000</a:t>
                      </a:r>
                    </a:p>
                  </a:txBody>
                  <a:tcPr>
                    <a:solidFill>
                      <a:srgbClr val="313244"/>
                    </a:solidFill>
                  </a:tcPr>
                </a:tc>
                <a:tc>
                  <a:txBody>
                    <a:bodyPr/>
                    <a:lstStyle/>
                    <a:p>
                      <a:pPr algn="ctr"/>
                      <a:r>
                        <a:rPr sz="1300" b="0">
                          <a:solidFill>
                            <a:srgbClr val="FFFFFF"/>
                          </a:solidFill>
                        </a:rPr>
                        <a:t>97.97 %</a:t>
                      </a:r>
                    </a:p>
                  </a:txBody>
                  <a:tcPr>
                    <a:solidFill>
                      <a:srgbClr val="313244"/>
                    </a:solidFill>
                  </a:tcPr>
                </a:tc>
                <a:tc>
                  <a:txBody>
                    <a:bodyPr/>
                    <a:lstStyle/>
                    <a:p>
                      <a:pPr algn="ctr"/>
                      <a:r>
                        <a:rPr sz="1300" b="0">
                          <a:solidFill>
                            <a:srgbClr val="FFFFFF"/>
                          </a:solidFill>
                        </a:rPr>
                        <a:t>0.06443</a:t>
                      </a:r>
                    </a:p>
                  </a:txBody>
                  <a:tcPr>
                    <a:solidFill>
                      <a:srgbClr val="313244"/>
                    </a:solidFill>
                  </a:tcPr>
                </a:tc>
                <a:tc>
                  <a:txBody>
                    <a:bodyPr/>
                    <a:lstStyle/>
                    <a:p>
                      <a:pPr algn="ctr"/>
                      <a:r>
                        <a:rPr sz="1300" b="0">
                          <a:solidFill>
                            <a:srgbClr val="FFFFFF"/>
                          </a:solidFill>
                        </a:rPr>
                        <a:t>✓  *</a:t>
                      </a:r>
                    </a:p>
                  </a:txBody>
                  <a:tcPr>
                    <a:solidFill>
                      <a:srgbClr val="313244"/>
                    </a:solidFill>
                  </a:tcPr>
                </a:tc>
              </a:tr>
              <a:tr h="419100">
                <a:tc>
                  <a:txBody>
                    <a:bodyPr/>
                    <a:lstStyle/>
                    <a:p>
                      <a:pPr algn="ctr"/>
                      <a:r>
                        <a:rPr sz="1300" b="0">
                          <a:solidFill>
                            <a:srgbClr val="FFFFFF"/>
                          </a:solidFill>
                        </a:rPr>
                        <a:t>1</a:t>
                      </a:r>
                    </a:p>
                  </a:txBody>
                  <a:tcPr>
                    <a:solidFill>
                      <a:srgbClr val="1E1E2E"/>
                    </a:solidFill>
                  </a:tcPr>
                </a:tc>
                <a:tc>
                  <a:txBody>
                    <a:bodyPr/>
                    <a:lstStyle/>
                    <a:p>
                      <a:pPr algn="ctr"/>
                      <a:r>
                        <a:rPr sz="1300" b="0">
                          <a:solidFill>
                            <a:srgbClr val="FFFFFF"/>
                          </a:solidFill>
                        </a:rPr>
                        <a:t>98.16 %</a:t>
                      </a:r>
                    </a:p>
                  </a:txBody>
                  <a:tcPr>
                    <a:solidFill>
                      <a:srgbClr val="1E1E2E"/>
                    </a:solidFill>
                  </a:tcPr>
                </a:tc>
                <a:tc>
                  <a:txBody>
                    <a:bodyPr/>
                    <a:lstStyle/>
                    <a:p>
                      <a:pPr algn="ctr"/>
                      <a:r>
                        <a:rPr sz="1300" b="0">
                          <a:solidFill>
                            <a:srgbClr val="FFFFFF"/>
                          </a:solidFill>
                        </a:rPr>
                        <a:t>0.06245</a:t>
                      </a:r>
                    </a:p>
                  </a:txBody>
                  <a:tcPr>
                    <a:solidFill>
                      <a:srgbClr val="1E1E2E"/>
                    </a:solidFill>
                  </a:tcPr>
                </a:tc>
                <a:tc>
                  <a:txBody>
                    <a:bodyPr/>
                    <a:lstStyle/>
                    <a:p>
                      <a:pPr algn="ctr"/>
                      <a:r>
                        <a:rPr sz="1300" b="0">
                          <a:solidFill>
                            <a:srgbClr val="FFFFFF"/>
                          </a:solidFill>
                        </a:rPr>
                        <a:t>98.44 %</a:t>
                      </a:r>
                    </a:p>
                  </a:txBody>
                  <a:tcPr>
                    <a:solidFill>
                      <a:srgbClr val="1E1E2E"/>
                    </a:solidFill>
                  </a:tcPr>
                </a:tc>
                <a:tc>
                  <a:txBody>
                    <a:bodyPr/>
                    <a:lstStyle/>
                    <a:p>
                      <a:pPr algn="ctr"/>
                      <a:r>
                        <a:rPr sz="1300" b="0">
                          <a:solidFill>
                            <a:srgbClr val="FFFFFF"/>
                          </a:solidFill>
                        </a:rPr>
                        <a:t>0.04900</a:t>
                      </a:r>
                    </a:p>
                  </a:txBody>
                  <a:tcPr>
                    <a:solidFill>
                      <a:srgbClr val="1E1E2E"/>
                    </a:solidFill>
                  </a:tcPr>
                </a:tc>
                <a:tc>
                  <a:txBody>
                    <a:bodyPr/>
                    <a:lstStyle/>
                    <a:p>
                      <a:pPr algn="ctr"/>
                      <a:r>
                        <a:rPr sz="1300" b="0">
                          <a:solidFill>
                            <a:srgbClr val="FFFFFF"/>
                          </a:solidFill>
                        </a:rPr>
                        <a:t>✓  *</a:t>
                      </a:r>
                    </a:p>
                  </a:txBody>
                  <a:tcPr>
                    <a:solidFill>
                      <a:srgbClr val="1E1E2E"/>
                    </a:solidFill>
                  </a:tcPr>
                </a:tc>
              </a:tr>
              <a:tr h="419100">
                <a:tc>
                  <a:txBody>
                    <a:bodyPr/>
                    <a:lstStyle/>
                    <a:p>
                      <a:pPr algn="ctr"/>
                      <a:r>
                        <a:rPr sz="1300" b="0">
                          <a:solidFill>
                            <a:srgbClr val="FFFFFF"/>
                          </a:solidFill>
                        </a:rPr>
                        <a:t>2</a:t>
                      </a:r>
                    </a:p>
                  </a:txBody>
                  <a:tcPr>
                    <a:solidFill>
                      <a:srgbClr val="313244"/>
                    </a:solidFill>
                  </a:tcPr>
                </a:tc>
                <a:tc>
                  <a:txBody>
                    <a:bodyPr/>
                    <a:lstStyle/>
                    <a:p>
                      <a:pPr algn="ctr"/>
                      <a:r>
                        <a:rPr sz="1300" b="0">
                          <a:solidFill>
                            <a:srgbClr val="FFFFFF"/>
                          </a:solidFill>
                        </a:rPr>
                        <a:t>98.62 %</a:t>
                      </a:r>
                    </a:p>
                  </a:txBody>
                  <a:tcPr>
                    <a:solidFill>
                      <a:srgbClr val="313244"/>
                    </a:solidFill>
                  </a:tcPr>
                </a:tc>
                <a:tc>
                  <a:txBody>
                    <a:bodyPr/>
                    <a:lstStyle/>
                    <a:p>
                      <a:pPr algn="ctr"/>
                      <a:r>
                        <a:rPr sz="1300" b="0">
                          <a:solidFill>
                            <a:srgbClr val="FFFFFF"/>
                          </a:solidFill>
                        </a:rPr>
                        <a:t>0.04626</a:t>
                      </a:r>
                    </a:p>
                  </a:txBody>
                  <a:tcPr>
                    <a:solidFill>
                      <a:srgbClr val="313244"/>
                    </a:solidFill>
                  </a:tcPr>
                </a:tc>
                <a:tc>
                  <a:txBody>
                    <a:bodyPr/>
                    <a:lstStyle/>
                    <a:p>
                      <a:pPr algn="ctr"/>
                      <a:r>
                        <a:rPr sz="1300" b="0">
                          <a:solidFill>
                            <a:srgbClr val="FFFFFF"/>
                          </a:solidFill>
                        </a:rPr>
                        <a:t>98.69 %</a:t>
                      </a:r>
                    </a:p>
                  </a:txBody>
                  <a:tcPr>
                    <a:solidFill>
                      <a:srgbClr val="313244"/>
                    </a:solidFill>
                  </a:tcPr>
                </a:tc>
                <a:tc>
                  <a:txBody>
                    <a:bodyPr/>
                    <a:lstStyle/>
                    <a:p>
                      <a:pPr algn="ctr"/>
                      <a:r>
                        <a:rPr sz="1300" b="0">
                          <a:solidFill>
                            <a:srgbClr val="FFFFFF"/>
                          </a:solidFill>
                        </a:rPr>
                        <a:t>0.04052</a:t>
                      </a:r>
                    </a:p>
                  </a:txBody>
                  <a:tcPr>
                    <a:solidFill>
                      <a:srgbClr val="313244"/>
                    </a:solidFill>
                  </a:tcPr>
                </a:tc>
                <a:tc>
                  <a:txBody>
                    <a:bodyPr/>
                    <a:lstStyle/>
                    <a:p>
                      <a:pPr algn="ctr"/>
                      <a:r>
                        <a:rPr sz="1300" b="0">
                          <a:solidFill>
                            <a:srgbClr val="FFFFFF"/>
                          </a:solidFill>
                        </a:rPr>
                        <a:t>✓  *</a:t>
                      </a:r>
                    </a:p>
                  </a:txBody>
                  <a:tcPr>
                    <a:solidFill>
                      <a:srgbClr val="313244"/>
                    </a:solidFill>
                  </a:tcPr>
                </a:tc>
              </a:tr>
              <a:tr h="419100">
                <a:tc>
                  <a:txBody>
                    <a:bodyPr/>
                    <a:lstStyle/>
                    <a:p>
                      <a:pPr algn="ctr"/>
                      <a:r>
                        <a:rPr sz="1300" b="0">
                          <a:solidFill>
                            <a:srgbClr val="FFFFFF"/>
                          </a:solidFill>
                        </a:rPr>
                        <a:t>3</a:t>
                      </a:r>
                    </a:p>
                  </a:txBody>
                  <a:tcPr>
                    <a:solidFill>
                      <a:srgbClr val="1E1E2E"/>
                    </a:solidFill>
                  </a:tcPr>
                </a:tc>
                <a:tc>
                  <a:txBody>
                    <a:bodyPr/>
                    <a:lstStyle/>
                    <a:p>
                      <a:pPr algn="ctr"/>
                      <a:r>
                        <a:rPr sz="1300" b="0">
                          <a:solidFill>
                            <a:srgbClr val="FFFFFF"/>
                          </a:solidFill>
                        </a:rPr>
                        <a:t>98.87 %</a:t>
                      </a:r>
                    </a:p>
                  </a:txBody>
                  <a:tcPr>
                    <a:solidFill>
                      <a:srgbClr val="1E1E2E"/>
                    </a:solidFill>
                  </a:tcPr>
                </a:tc>
                <a:tc>
                  <a:txBody>
                    <a:bodyPr/>
                    <a:lstStyle/>
                    <a:p>
                      <a:pPr algn="ctr"/>
                      <a:r>
                        <a:rPr sz="1300" b="0">
                          <a:solidFill>
                            <a:srgbClr val="FFFFFF"/>
                          </a:solidFill>
                        </a:rPr>
                        <a:t>0.03645</a:t>
                      </a:r>
                    </a:p>
                  </a:txBody>
                  <a:tcPr>
                    <a:solidFill>
                      <a:srgbClr val="1E1E2E"/>
                    </a:solidFill>
                  </a:tcPr>
                </a:tc>
                <a:tc>
                  <a:txBody>
                    <a:bodyPr/>
                    <a:lstStyle/>
                    <a:p>
                      <a:pPr algn="ctr"/>
                      <a:r>
                        <a:rPr sz="1300" b="0">
                          <a:solidFill>
                            <a:srgbClr val="FFFFFF"/>
                          </a:solidFill>
                        </a:rPr>
                        <a:t>98.64 %</a:t>
                      </a:r>
                    </a:p>
                  </a:txBody>
                  <a:tcPr>
                    <a:solidFill>
                      <a:srgbClr val="1E1E2E"/>
                    </a:solidFill>
                  </a:tcPr>
                </a:tc>
                <a:tc>
                  <a:txBody>
                    <a:bodyPr/>
                    <a:lstStyle/>
                    <a:p>
                      <a:pPr algn="ctr"/>
                      <a:r>
                        <a:rPr sz="1300" b="0">
                          <a:solidFill>
                            <a:srgbClr val="FFFFFF"/>
                          </a:solidFill>
                        </a:rPr>
                        <a:t>0.03848</a:t>
                      </a:r>
                    </a:p>
                  </a:txBody>
                  <a:tcPr>
                    <a:solidFill>
                      <a:srgbClr val="1E1E2E"/>
                    </a:solidFill>
                  </a:tcPr>
                </a:tc>
                <a:tc>
                  <a:txBody>
                    <a:bodyPr/>
                    <a:lstStyle/>
                    <a:p>
                      <a:pPr algn="ctr"/>
                      <a:r>
                        <a:rPr sz="1300" b="0">
                          <a:solidFill>
                            <a:srgbClr val="FFFFFF"/>
                          </a:solidFill>
                        </a:rPr>
                        <a:t>—</a:t>
                      </a:r>
                    </a:p>
                  </a:txBody>
                  <a:tcPr>
                    <a:solidFill>
                      <a:srgbClr val="1E1E2E"/>
                    </a:solidFill>
                  </a:tcPr>
                </a:tc>
              </a:tr>
              <a:tr h="419100">
                <a:tc>
                  <a:txBody>
                    <a:bodyPr/>
                    <a:lstStyle/>
                    <a:p>
                      <a:pPr algn="ctr"/>
                      <a:r>
                        <a:rPr sz="1300" b="0">
                          <a:solidFill>
                            <a:srgbClr val="FFFFFF"/>
                          </a:solidFill>
                        </a:rPr>
                        <a:t>4</a:t>
                      </a:r>
                    </a:p>
                  </a:txBody>
                  <a:tcPr>
                    <a:solidFill>
                      <a:srgbClr val="313244"/>
                    </a:solidFill>
                  </a:tcPr>
                </a:tc>
                <a:tc>
                  <a:txBody>
                    <a:bodyPr/>
                    <a:lstStyle/>
                    <a:p>
                      <a:pPr algn="ctr"/>
                      <a:r>
                        <a:rPr sz="1300" b="0">
                          <a:solidFill>
                            <a:srgbClr val="FFFFFF"/>
                          </a:solidFill>
                        </a:rPr>
                        <a:t>99.05 %</a:t>
                      </a:r>
                    </a:p>
                  </a:txBody>
                  <a:tcPr>
                    <a:solidFill>
                      <a:srgbClr val="313244"/>
                    </a:solidFill>
                  </a:tcPr>
                </a:tc>
                <a:tc>
                  <a:txBody>
                    <a:bodyPr/>
                    <a:lstStyle/>
                    <a:p>
                      <a:pPr algn="ctr"/>
                      <a:r>
                        <a:rPr sz="1300" b="0">
                          <a:solidFill>
                            <a:srgbClr val="FFFFFF"/>
                          </a:solidFill>
                        </a:rPr>
                        <a:t>0.03035</a:t>
                      </a:r>
                    </a:p>
                  </a:txBody>
                  <a:tcPr>
                    <a:solidFill>
                      <a:srgbClr val="313244"/>
                    </a:solidFill>
                  </a:tcPr>
                </a:tc>
                <a:tc>
                  <a:txBody>
                    <a:bodyPr/>
                    <a:lstStyle/>
                    <a:p>
                      <a:pPr algn="ctr"/>
                      <a:r>
                        <a:rPr sz="1300" b="0">
                          <a:solidFill>
                            <a:srgbClr val="FFFFFF"/>
                          </a:solidFill>
                        </a:rPr>
                        <a:t>98.92 %</a:t>
                      </a:r>
                    </a:p>
                  </a:txBody>
                  <a:tcPr>
                    <a:solidFill>
                      <a:srgbClr val="313244"/>
                    </a:solidFill>
                  </a:tcPr>
                </a:tc>
                <a:tc>
                  <a:txBody>
                    <a:bodyPr/>
                    <a:lstStyle/>
                    <a:p>
                      <a:pPr algn="ctr"/>
                      <a:r>
                        <a:rPr sz="1300" b="0">
                          <a:solidFill>
                            <a:srgbClr val="FFFFFF"/>
                          </a:solidFill>
                        </a:rPr>
                        <a:t>0.03147</a:t>
                      </a:r>
                    </a:p>
                  </a:txBody>
                  <a:tcPr>
                    <a:solidFill>
                      <a:srgbClr val="313244"/>
                    </a:solidFill>
                  </a:tcPr>
                </a:tc>
                <a:tc>
                  <a:txBody>
                    <a:bodyPr/>
                    <a:lstStyle/>
                    <a:p>
                      <a:pPr algn="ctr"/>
                      <a:r>
                        <a:rPr sz="1300" b="0">
                          <a:solidFill>
                            <a:srgbClr val="FFFFFF"/>
                          </a:solidFill>
                        </a:rPr>
                        <a:t>✓  *  ← best</a:t>
                      </a:r>
                    </a:p>
                  </a:txBody>
                  <a:tcPr>
                    <a:solidFill>
                      <a:srgbClr val="313244"/>
                    </a:solidFill>
                  </a:tcPr>
                </a:tc>
              </a:tr>
            </a:tbl>
          </a:graphicData>
        </a:graphic>
      </p:graphicFrame>
      <p:sp>
        <p:nvSpPr>
          <p:cNvPr id="6" name="TextBox 5"/>
          <p:cNvSpPr txBox="1"/>
          <p:nvPr/>
        </p:nvSpPr>
        <p:spPr>
          <a:xfrm>
            <a:off x="457200" y="4114800"/>
            <a:ext cx="10972800" cy="320040"/>
          </a:xfrm>
          <a:prstGeom prst="rect">
            <a:avLst/>
          </a:prstGeom>
          <a:noFill/>
        </p:spPr>
        <p:txBody>
          <a:bodyPr wrap="square">
            <a:spAutoFit/>
          </a:bodyPr>
          <a:lstStyle/>
          <a:p>
            <a:pPr algn="l"/>
            <a:r>
              <a:rPr sz="1500" b="1">
                <a:solidFill>
                  <a:srgbClr val="F9E2AF"/>
                </a:solidFill>
              </a:rPr>
              <a:t>Full-dataset evaluation (train + test = 70 000 samples)</a:t>
            </a:r>
          </a:p>
        </p:txBody>
      </p:sp>
      <p:graphicFrame>
        <p:nvGraphicFramePr>
          <p:cNvPr id="7" name="Table 6"/>
          <p:cNvGraphicFramePr>
            <a:graphicFrameLocks noGrp="1"/>
          </p:cNvGraphicFramePr>
          <p:nvPr/>
        </p:nvGraphicFramePr>
        <p:xfrm>
          <a:off x="457200" y="4480560"/>
          <a:ext cx="11247119" cy="1417320"/>
        </p:xfrm>
        <a:graphic>
          <a:graphicData uri="http://schemas.openxmlformats.org/drawingml/2006/table">
            <a:tbl>
              <a:tblPr firstRow="1" bandRow="1">
                <a:tableStyleId>{5C22544A-7EE6-4342-B048-85BDC9FD1C3A}</a:tableStyleId>
              </a:tblPr>
              <a:tblGrid>
                <a:gridCol w="8097926"/>
                <a:gridCol w="3149193"/>
              </a:tblGrid>
              <a:tr h="472440">
                <a:tc>
                  <a:txBody>
                    <a:bodyPr/>
                    <a:lstStyle/>
                    <a:p>
                      <a:pPr algn="ctr"/>
                      <a:r>
                        <a:rPr sz="1400" b="1">
                          <a:solidFill>
                            <a:srgbClr val="1E1E2E"/>
                          </a:solidFill>
                        </a:rPr>
                        <a:t>Checkpoint filename</a:t>
                      </a:r>
                    </a:p>
                  </a:txBody>
                  <a:tcPr>
                    <a:solidFill>
                      <a:srgbClr val="74C7EC"/>
                    </a:solidFill>
                  </a:tcPr>
                </a:tc>
                <a:tc>
                  <a:txBody>
                    <a:bodyPr/>
                    <a:lstStyle/>
                    <a:p>
                      <a:pPr algn="ctr"/>
                      <a:r>
                        <a:rPr sz="1400" b="1">
                          <a:solidFill>
                            <a:srgbClr val="1E1E2E"/>
                          </a:solidFill>
                        </a:rPr>
                        <a:t>Full-set Accuracy</a:t>
                      </a:r>
                    </a:p>
                  </a:txBody>
                  <a:tcPr>
                    <a:solidFill>
                      <a:srgbClr val="74C7EC"/>
                    </a:solidFill>
                  </a:tcPr>
                </a:tc>
              </a:tr>
              <a:tr h="472440">
                <a:tc>
                  <a:txBody>
                    <a:bodyPr/>
                    <a:lstStyle/>
                    <a:p>
                      <a:pPr algn="ctr"/>
                      <a:r>
                        <a:rPr sz="1300" b="0">
                          <a:solidFill>
                            <a:srgbClr val="FFFFFF"/>
                          </a:solidFill>
                        </a:rPr>
                        <a:t>QUANTIZED_MNISTCNN-2026-05-19-00-18-25.pth  (latest)</a:t>
                      </a:r>
                    </a:p>
                  </a:txBody>
                  <a:tcPr>
                    <a:solidFill>
                      <a:srgbClr val="313244"/>
                    </a:solidFill>
                  </a:tcPr>
                </a:tc>
                <a:tc>
                  <a:txBody>
                    <a:bodyPr/>
                    <a:lstStyle/>
                    <a:p>
                      <a:pPr algn="ctr"/>
                      <a:r>
                        <a:rPr sz="1300" b="0">
                          <a:solidFill>
                            <a:srgbClr val="FFFFFF"/>
                          </a:solidFill>
                        </a:rPr>
                        <a:t>99.36 %</a:t>
                      </a:r>
                    </a:p>
                  </a:txBody>
                  <a:tcPr>
                    <a:solidFill>
                      <a:srgbClr val="313244"/>
                    </a:solidFill>
                  </a:tcPr>
                </a:tc>
              </a:tr>
              <a:tr h="472440">
                <a:tc>
                  <a:txBody>
                    <a:bodyPr/>
                    <a:lstStyle/>
                    <a:p>
                      <a:pPr algn="ctr"/>
                      <a:r>
                        <a:rPr sz="1300" b="0">
                          <a:solidFill>
                            <a:srgbClr val="FFFFFF"/>
                          </a:solidFill>
                        </a:rPr>
                        <a:t>QUANTIZED_MNISTCNN-2026-05-17-23-48-02.pth  (previous)</a:t>
                      </a:r>
                    </a:p>
                  </a:txBody>
                  <a:tcPr>
                    <a:solidFill>
                      <a:srgbClr val="1E1E2E"/>
                    </a:solidFill>
                  </a:tcPr>
                </a:tc>
                <a:tc>
                  <a:txBody>
                    <a:bodyPr/>
                    <a:lstStyle/>
                    <a:p>
                      <a:pPr algn="ctr"/>
                      <a:r>
                        <a:rPr sz="1300" b="0">
                          <a:solidFill>
                            <a:srgbClr val="FFFFFF"/>
                          </a:solidFill>
                        </a:rPr>
                        <a:t>99.10 %</a:t>
                      </a:r>
                    </a:p>
                  </a:txBody>
                  <a:tcPr>
                    <a:solidFill>
                      <a:srgbClr val="1E1E2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WeightEmbed — weights.h Export</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Checkpoint class → ap_fixed C header, auto-timestamped</a:t>
            </a:r>
          </a:p>
        </p:txBody>
      </p:sp>
      <p:sp>
        <p:nvSpPr>
          <p:cNvPr id="5" name="Rectangle 4"/>
          <p:cNvSpPr/>
          <p:nvPr/>
        </p:nvSpPr>
        <p:spPr>
          <a:xfrm>
            <a:off x="320040" y="1481328"/>
            <a:ext cx="201168" cy="53035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81328"/>
            <a:ext cx="2926080" cy="530352"/>
          </a:xfrm>
          <a:prstGeom prst="rect">
            <a:avLst/>
          </a:prstGeom>
          <a:noFill/>
        </p:spPr>
        <p:txBody>
          <a:bodyPr wrap="square">
            <a:spAutoFit/>
          </a:bodyPr>
          <a:lstStyle/>
          <a:p>
            <a:pPr algn="l"/>
            <a:r>
              <a:rPr sz="1300" b="1">
                <a:solidFill>
                  <a:srgbClr val="74C7EC"/>
                </a:solidFill>
              </a:rPr>
              <a:t>Load .pth</a:t>
            </a:r>
          </a:p>
        </p:txBody>
      </p:sp>
      <p:sp>
        <p:nvSpPr>
          <p:cNvPr id="7" name="TextBox 6"/>
          <p:cNvSpPr txBox="1"/>
          <p:nvPr/>
        </p:nvSpPr>
        <p:spPr>
          <a:xfrm>
            <a:off x="3566160" y="1481328"/>
            <a:ext cx="3108960" cy="530352"/>
          </a:xfrm>
          <a:prstGeom prst="rect">
            <a:avLst/>
          </a:prstGeom>
          <a:noFill/>
        </p:spPr>
        <p:txBody>
          <a:bodyPr wrap="square">
            <a:spAutoFit/>
          </a:bodyPr>
          <a:lstStyle/>
          <a:p>
            <a:pPr algn="l"/>
            <a:r>
              <a:rPr sz="1200" b="0">
                <a:solidFill>
                  <a:srgbClr val="CDD6F4"/>
                </a:solidFill>
              </a:rPr>
              <a:t>torch.load(path, map_location='cpu')</a:t>
            </a:r>
          </a:p>
        </p:txBody>
      </p:sp>
      <p:sp>
        <p:nvSpPr>
          <p:cNvPr id="8" name="Rectangle 7"/>
          <p:cNvSpPr/>
          <p:nvPr/>
        </p:nvSpPr>
        <p:spPr>
          <a:xfrm>
            <a:off x="384048" y="2011680"/>
            <a:ext cx="73152" cy="9144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2103120"/>
            <a:ext cx="201168" cy="53035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03120"/>
            <a:ext cx="2926080" cy="530352"/>
          </a:xfrm>
          <a:prstGeom prst="rect">
            <a:avLst/>
          </a:prstGeom>
          <a:noFill/>
        </p:spPr>
        <p:txBody>
          <a:bodyPr wrap="square">
            <a:spAutoFit/>
          </a:bodyPr>
          <a:lstStyle/>
          <a:p>
            <a:pPr algn="l"/>
            <a:r>
              <a:rPr sz="1300" b="1">
                <a:solidFill>
                  <a:srgbClr val="74C7EC"/>
                </a:solidFill>
              </a:rPr>
              <a:t>Iterate state_dict</a:t>
            </a:r>
          </a:p>
        </p:txBody>
      </p:sp>
      <p:sp>
        <p:nvSpPr>
          <p:cNvPr id="11" name="TextBox 10"/>
          <p:cNvSpPr txBox="1"/>
          <p:nvPr/>
        </p:nvSpPr>
        <p:spPr>
          <a:xfrm>
            <a:off x="3566160" y="2103120"/>
            <a:ext cx="3108960" cy="530352"/>
          </a:xfrm>
          <a:prstGeom prst="rect">
            <a:avLst/>
          </a:prstGeom>
          <a:noFill/>
        </p:spPr>
        <p:txBody>
          <a:bodyPr wrap="square">
            <a:spAutoFit/>
          </a:bodyPr>
          <a:lstStyle/>
          <a:p>
            <a:pPr algn="l"/>
            <a:r>
              <a:rPr sz="1200" b="0">
                <a:solidFill>
                  <a:srgbClr val="CDD6F4"/>
                </a:solidFill>
              </a:rPr>
              <a:t>keys: conv1.weight / .bias … fc.weight / .bias</a:t>
            </a:r>
          </a:p>
        </p:txBody>
      </p:sp>
      <p:sp>
        <p:nvSpPr>
          <p:cNvPr id="12" name="Rectangle 11"/>
          <p:cNvSpPr/>
          <p:nvPr/>
        </p:nvSpPr>
        <p:spPr>
          <a:xfrm>
            <a:off x="384048" y="2633472"/>
            <a:ext cx="73152" cy="9144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724912"/>
            <a:ext cx="201168" cy="53035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24912"/>
            <a:ext cx="2926080" cy="530352"/>
          </a:xfrm>
          <a:prstGeom prst="rect">
            <a:avLst/>
          </a:prstGeom>
          <a:noFill/>
        </p:spPr>
        <p:txBody>
          <a:bodyPr wrap="square">
            <a:spAutoFit/>
          </a:bodyPr>
          <a:lstStyle/>
          <a:p>
            <a:pPr algn="l"/>
            <a:r>
              <a:rPr sz="1300" b="1">
                <a:solidFill>
                  <a:srgbClr val="74C7EC"/>
                </a:solidFill>
              </a:rPr>
              <a:t>fixed_point_round_tensor</a:t>
            </a:r>
          </a:p>
        </p:txBody>
      </p:sp>
      <p:sp>
        <p:nvSpPr>
          <p:cNvPr id="15" name="TextBox 14"/>
          <p:cNvSpPr txBox="1"/>
          <p:nvPr/>
        </p:nvSpPr>
        <p:spPr>
          <a:xfrm>
            <a:off x="3566160" y="2724912"/>
            <a:ext cx="3108960" cy="530352"/>
          </a:xfrm>
          <a:prstGeom prst="rect">
            <a:avLst/>
          </a:prstGeom>
          <a:noFill/>
        </p:spPr>
        <p:txBody>
          <a:bodyPr wrap="square">
            <a:spAutoFit/>
          </a:bodyPr>
          <a:lstStyle/>
          <a:p>
            <a:pPr algn="l"/>
            <a:r>
              <a:rPr sz="1200" b="0">
                <a:solidFill>
                  <a:srgbClr val="CDD6F4"/>
                </a:solidFill>
              </a:rPr>
              <a:t>clamp → round to 1/512 grid</a:t>
            </a:r>
          </a:p>
        </p:txBody>
      </p:sp>
      <p:sp>
        <p:nvSpPr>
          <p:cNvPr id="16" name="Rectangle 15"/>
          <p:cNvSpPr/>
          <p:nvPr/>
        </p:nvSpPr>
        <p:spPr>
          <a:xfrm>
            <a:off x="384048" y="3255264"/>
            <a:ext cx="73152" cy="9144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3346704"/>
            <a:ext cx="201168" cy="53035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46704"/>
            <a:ext cx="2926080" cy="530352"/>
          </a:xfrm>
          <a:prstGeom prst="rect">
            <a:avLst/>
          </a:prstGeom>
          <a:noFill/>
        </p:spPr>
        <p:txBody>
          <a:bodyPr wrap="square">
            <a:spAutoFit/>
          </a:bodyPr>
          <a:lstStyle/>
          <a:p>
            <a:pPr algn="l"/>
            <a:r>
              <a:rPr sz="1300" b="1">
                <a:solidFill>
                  <a:srgbClr val="74C7EC"/>
                </a:solidFill>
              </a:rPr>
              <a:t>_nested_format</a:t>
            </a:r>
          </a:p>
        </p:txBody>
      </p:sp>
      <p:sp>
        <p:nvSpPr>
          <p:cNvPr id="19" name="TextBox 18"/>
          <p:cNvSpPr txBox="1"/>
          <p:nvPr/>
        </p:nvSpPr>
        <p:spPr>
          <a:xfrm>
            <a:off x="3566160" y="3346704"/>
            <a:ext cx="3108960" cy="530352"/>
          </a:xfrm>
          <a:prstGeom prst="rect">
            <a:avLst/>
          </a:prstGeom>
          <a:noFill/>
        </p:spPr>
        <p:txBody>
          <a:bodyPr wrap="square">
            <a:spAutoFit/>
          </a:bodyPr>
          <a:lstStyle/>
          <a:p>
            <a:pPr algn="l"/>
            <a:r>
              <a:rPr sz="1200" b="0">
                <a:solidFill>
                  <a:srgbClr val="CDD6F4"/>
                </a:solidFill>
              </a:rPr>
              <a:t>Recursively build C brace-initialiser string</a:t>
            </a:r>
          </a:p>
        </p:txBody>
      </p:sp>
      <p:sp>
        <p:nvSpPr>
          <p:cNvPr id="20" name="Rectangle 19"/>
          <p:cNvSpPr/>
          <p:nvPr/>
        </p:nvSpPr>
        <p:spPr>
          <a:xfrm>
            <a:off x="384048" y="3877056"/>
            <a:ext cx="73152" cy="9144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968496"/>
            <a:ext cx="201168" cy="530352"/>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968496"/>
            <a:ext cx="2926080" cy="530352"/>
          </a:xfrm>
          <a:prstGeom prst="rect">
            <a:avLst/>
          </a:prstGeom>
          <a:noFill/>
        </p:spPr>
        <p:txBody>
          <a:bodyPr wrap="square">
            <a:spAutoFit/>
          </a:bodyPr>
          <a:lstStyle/>
          <a:p>
            <a:pPr algn="l"/>
            <a:r>
              <a:rPr sz="1300" b="1">
                <a:solidFill>
                  <a:srgbClr val="74C7EC"/>
                </a:solidFill>
              </a:rPr>
              <a:t>Write .h</a:t>
            </a:r>
          </a:p>
        </p:txBody>
      </p:sp>
      <p:sp>
        <p:nvSpPr>
          <p:cNvPr id="23" name="TextBox 22"/>
          <p:cNvSpPr txBox="1"/>
          <p:nvPr/>
        </p:nvSpPr>
        <p:spPr>
          <a:xfrm>
            <a:off x="3566160" y="3968496"/>
            <a:ext cx="3108960" cy="530352"/>
          </a:xfrm>
          <a:prstGeom prst="rect">
            <a:avLst/>
          </a:prstGeom>
          <a:noFill/>
        </p:spPr>
        <p:txBody>
          <a:bodyPr wrap="square">
            <a:spAutoFit/>
          </a:bodyPr>
          <a:lstStyle/>
          <a:p>
            <a:pPr algn="l"/>
            <a:r>
              <a:rPr sz="1200" b="0">
                <a:solidFill>
                  <a:srgbClr val="CDD6F4"/>
                </a:solidFill>
              </a:rPr>
              <a:t>using fixed_t = ap_fixed&lt;16,7,AP_RND,AP_SAT&gt;</a:t>
            </a:r>
          </a:p>
        </p:txBody>
      </p:sp>
      <p:sp>
        <p:nvSpPr>
          <p:cNvPr id="24" name="Rectangle 23"/>
          <p:cNvSpPr/>
          <p:nvPr/>
        </p:nvSpPr>
        <p:spPr>
          <a:xfrm>
            <a:off x="384048" y="4498848"/>
            <a:ext cx="73152" cy="9144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5" name="Table 24"/>
          <p:cNvGraphicFramePr>
            <a:graphicFrameLocks noGrp="1"/>
          </p:cNvGraphicFramePr>
          <p:nvPr/>
        </p:nvGraphicFramePr>
        <p:xfrm>
          <a:off x="6903720" y="1481328"/>
          <a:ext cx="5029200" cy="4754880"/>
        </p:xfrm>
        <a:graphic>
          <a:graphicData uri="http://schemas.openxmlformats.org/drawingml/2006/table">
            <a:tbl>
              <a:tblPr firstRow="1" bandRow="1">
                <a:tableStyleId>{5C22544A-7EE6-4342-B048-85BDC9FD1C3A}</a:tableStyleId>
              </a:tblPr>
              <a:tblGrid>
                <a:gridCol w="2011680"/>
                <a:gridCol w="1760220"/>
                <a:gridCol w="1257300"/>
              </a:tblGrid>
              <a:tr h="475488">
                <a:tc>
                  <a:txBody>
                    <a:bodyPr/>
                    <a:lstStyle/>
                    <a:p>
                      <a:pPr algn="ctr"/>
                      <a:r>
                        <a:rPr sz="1400" b="1">
                          <a:solidFill>
                            <a:srgbClr val="1E1E2E"/>
                          </a:solidFill>
                        </a:rPr>
                        <a:t>Tensor key</a:t>
                      </a:r>
                    </a:p>
                  </a:txBody>
                  <a:tcPr>
                    <a:solidFill>
                      <a:srgbClr val="74C7EC"/>
                    </a:solidFill>
                  </a:tcPr>
                </a:tc>
                <a:tc>
                  <a:txBody>
                    <a:bodyPr/>
                    <a:lstStyle/>
                    <a:p>
                      <a:pPr algn="ctr"/>
                      <a:r>
                        <a:rPr sz="1400" b="1">
                          <a:solidFill>
                            <a:srgbClr val="1E1E2E"/>
                          </a:solidFill>
                        </a:rPr>
                        <a:t>Shape</a:t>
                      </a:r>
                    </a:p>
                  </a:txBody>
                  <a:tcPr>
                    <a:solidFill>
                      <a:srgbClr val="74C7EC"/>
                    </a:solidFill>
                  </a:tcPr>
                </a:tc>
                <a:tc>
                  <a:txBody>
                    <a:bodyPr/>
                    <a:lstStyle/>
                    <a:p>
                      <a:pPr algn="ctr"/>
                      <a:r>
                        <a:rPr sz="1400" b="1">
                          <a:solidFill>
                            <a:srgbClr val="1E1E2E"/>
                          </a:solidFill>
                        </a:rPr>
                        <a:t>Total params</a:t>
                      </a:r>
                    </a:p>
                  </a:txBody>
                  <a:tcPr>
                    <a:solidFill>
                      <a:srgbClr val="74C7EC"/>
                    </a:solidFill>
                  </a:tcPr>
                </a:tc>
              </a:tr>
              <a:tr h="475488">
                <a:tc>
                  <a:txBody>
                    <a:bodyPr/>
                    <a:lstStyle/>
                    <a:p>
                      <a:pPr algn="ctr"/>
                      <a:r>
                        <a:rPr sz="1300" b="0">
                          <a:solidFill>
                            <a:srgbClr val="FFFFFF"/>
                          </a:solidFill>
                        </a:rPr>
                        <a:t>conv1.weight</a:t>
                      </a:r>
                    </a:p>
                  </a:txBody>
                  <a:tcPr>
                    <a:solidFill>
                      <a:srgbClr val="313244"/>
                    </a:solidFill>
                  </a:tcPr>
                </a:tc>
                <a:tc>
                  <a:txBody>
                    <a:bodyPr/>
                    <a:lstStyle/>
                    <a:p>
                      <a:pPr algn="ctr"/>
                      <a:r>
                        <a:rPr sz="1300" b="0">
                          <a:solidFill>
                            <a:srgbClr val="FFFFFF"/>
                          </a:solidFill>
                        </a:rPr>
                        <a:t>(16, 1, 3, 3)</a:t>
                      </a:r>
                    </a:p>
                  </a:txBody>
                  <a:tcPr>
                    <a:solidFill>
                      <a:srgbClr val="313244"/>
                    </a:solidFill>
                  </a:tcPr>
                </a:tc>
                <a:tc>
                  <a:txBody>
                    <a:bodyPr/>
                    <a:lstStyle/>
                    <a:p>
                      <a:pPr algn="ctr"/>
                      <a:r>
                        <a:rPr sz="1300" b="0">
                          <a:solidFill>
                            <a:srgbClr val="FFFFFF"/>
                          </a:solidFill>
                        </a:rPr>
                        <a:t>144</a:t>
                      </a:r>
                    </a:p>
                  </a:txBody>
                  <a:tcPr>
                    <a:solidFill>
                      <a:srgbClr val="313244"/>
                    </a:solidFill>
                  </a:tcPr>
                </a:tc>
              </a:tr>
              <a:tr h="475488">
                <a:tc>
                  <a:txBody>
                    <a:bodyPr/>
                    <a:lstStyle/>
                    <a:p>
                      <a:pPr algn="ctr"/>
                      <a:r>
                        <a:rPr sz="1300" b="0">
                          <a:solidFill>
                            <a:srgbClr val="FFFFFF"/>
                          </a:solidFill>
                        </a:rPr>
                        <a:t>conv1.bias</a:t>
                      </a:r>
                    </a:p>
                  </a:txBody>
                  <a:tcPr>
                    <a:solidFill>
                      <a:srgbClr val="1E1E2E"/>
                    </a:solidFill>
                  </a:tcPr>
                </a:tc>
                <a:tc>
                  <a:txBody>
                    <a:bodyPr/>
                    <a:lstStyle/>
                    <a:p>
                      <a:pPr algn="ctr"/>
                      <a:r>
                        <a:rPr sz="1300" b="0">
                          <a:solidFill>
                            <a:srgbClr val="FFFFFF"/>
                          </a:solidFill>
                        </a:rPr>
                        <a:t>(16,)</a:t>
                      </a:r>
                    </a:p>
                  </a:txBody>
                  <a:tcPr>
                    <a:solidFill>
                      <a:srgbClr val="1E1E2E"/>
                    </a:solidFill>
                  </a:tcPr>
                </a:tc>
                <a:tc>
                  <a:txBody>
                    <a:bodyPr/>
                    <a:lstStyle/>
                    <a:p>
                      <a:pPr algn="ctr"/>
                      <a:r>
                        <a:rPr sz="1300" b="0">
                          <a:solidFill>
                            <a:srgbClr val="FFFFFF"/>
                          </a:solidFill>
                        </a:rPr>
                        <a:t>16</a:t>
                      </a:r>
                    </a:p>
                  </a:txBody>
                  <a:tcPr>
                    <a:solidFill>
                      <a:srgbClr val="1E1E2E"/>
                    </a:solidFill>
                  </a:tcPr>
                </a:tc>
              </a:tr>
              <a:tr h="475488">
                <a:tc>
                  <a:txBody>
                    <a:bodyPr/>
                    <a:lstStyle/>
                    <a:p>
                      <a:pPr algn="ctr"/>
                      <a:r>
                        <a:rPr sz="1300" b="0">
                          <a:solidFill>
                            <a:srgbClr val="FFFFFF"/>
                          </a:solidFill>
                        </a:rPr>
                        <a:t>conv2.weight</a:t>
                      </a:r>
                    </a:p>
                  </a:txBody>
                  <a:tcPr>
                    <a:solidFill>
                      <a:srgbClr val="313244"/>
                    </a:solidFill>
                  </a:tcPr>
                </a:tc>
                <a:tc>
                  <a:txBody>
                    <a:bodyPr/>
                    <a:lstStyle/>
                    <a:p>
                      <a:pPr algn="ctr"/>
                      <a:r>
                        <a:rPr sz="1300" b="0">
                          <a:solidFill>
                            <a:srgbClr val="FFFFFF"/>
                          </a:solidFill>
                        </a:rPr>
                        <a:t>(32, 16, 3, 3)</a:t>
                      </a:r>
                    </a:p>
                  </a:txBody>
                  <a:tcPr>
                    <a:solidFill>
                      <a:srgbClr val="313244"/>
                    </a:solidFill>
                  </a:tcPr>
                </a:tc>
                <a:tc>
                  <a:txBody>
                    <a:bodyPr/>
                    <a:lstStyle/>
                    <a:p>
                      <a:pPr algn="ctr"/>
                      <a:r>
                        <a:rPr sz="1300" b="0">
                          <a:solidFill>
                            <a:srgbClr val="FFFFFF"/>
                          </a:solidFill>
                        </a:rPr>
                        <a:t>4 608</a:t>
                      </a:r>
                    </a:p>
                  </a:txBody>
                  <a:tcPr>
                    <a:solidFill>
                      <a:srgbClr val="313244"/>
                    </a:solidFill>
                  </a:tcPr>
                </a:tc>
              </a:tr>
              <a:tr h="475488">
                <a:tc>
                  <a:txBody>
                    <a:bodyPr/>
                    <a:lstStyle/>
                    <a:p>
                      <a:pPr algn="ctr"/>
                      <a:r>
                        <a:rPr sz="1300" b="0">
                          <a:solidFill>
                            <a:srgbClr val="FFFFFF"/>
                          </a:solidFill>
                        </a:rPr>
                        <a:t>conv2.bias</a:t>
                      </a:r>
                    </a:p>
                  </a:txBody>
                  <a:tcPr>
                    <a:solidFill>
                      <a:srgbClr val="1E1E2E"/>
                    </a:solidFill>
                  </a:tcPr>
                </a:tc>
                <a:tc>
                  <a:txBody>
                    <a:bodyPr/>
                    <a:lstStyle/>
                    <a:p>
                      <a:pPr algn="ctr"/>
                      <a:r>
                        <a:rPr sz="1300" b="0">
                          <a:solidFill>
                            <a:srgbClr val="FFFFFF"/>
                          </a:solidFill>
                        </a:rPr>
                        <a:t>(32,)</a:t>
                      </a:r>
                    </a:p>
                  </a:txBody>
                  <a:tcPr>
                    <a:solidFill>
                      <a:srgbClr val="1E1E2E"/>
                    </a:solidFill>
                  </a:tcPr>
                </a:tc>
                <a:tc>
                  <a:txBody>
                    <a:bodyPr/>
                    <a:lstStyle/>
                    <a:p>
                      <a:pPr algn="ctr"/>
                      <a:r>
                        <a:rPr sz="1300" b="0">
                          <a:solidFill>
                            <a:srgbClr val="FFFFFF"/>
                          </a:solidFill>
                        </a:rPr>
                        <a:t>32</a:t>
                      </a:r>
                    </a:p>
                  </a:txBody>
                  <a:tcPr>
                    <a:solidFill>
                      <a:srgbClr val="1E1E2E"/>
                    </a:solidFill>
                  </a:tcPr>
                </a:tc>
              </a:tr>
              <a:tr h="475488">
                <a:tc>
                  <a:txBody>
                    <a:bodyPr/>
                    <a:lstStyle/>
                    <a:p>
                      <a:pPr algn="ctr"/>
                      <a:r>
                        <a:rPr sz="1300" b="0">
                          <a:solidFill>
                            <a:srgbClr val="FFFFFF"/>
                          </a:solidFill>
                        </a:rPr>
                        <a:t>conv3.weight</a:t>
                      </a:r>
                    </a:p>
                  </a:txBody>
                  <a:tcPr>
                    <a:solidFill>
                      <a:srgbClr val="313244"/>
                    </a:solidFill>
                  </a:tcPr>
                </a:tc>
                <a:tc>
                  <a:txBody>
                    <a:bodyPr/>
                    <a:lstStyle/>
                    <a:p>
                      <a:pPr algn="ctr"/>
                      <a:r>
                        <a:rPr sz="1300" b="0">
                          <a:solidFill>
                            <a:srgbClr val="FFFFFF"/>
                          </a:solidFill>
                        </a:rPr>
                        <a:t>(32, 32, 3, 3)</a:t>
                      </a:r>
                    </a:p>
                  </a:txBody>
                  <a:tcPr>
                    <a:solidFill>
                      <a:srgbClr val="313244"/>
                    </a:solidFill>
                  </a:tcPr>
                </a:tc>
                <a:tc>
                  <a:txBody>
                    <a:bodyPr/>
                    <a:lstStyle/>
                    <a:p>
                      <a:pPr algn="ctr"/>
                      <a:r>
                        <a:rPr sz="1300" b="0">
                          <a:solidFill>
                            <a:srgbClr val="FFFFFF"/>
                          </a:solidFill>
                        </a:rPr>
                        <a:t>9 216</a:t>
                      </a:r>
                    </a:p>
                  </a:txBody>
                  <a:tcPr>
                    <a:solidFill>
                      <a:srgbClr val="313244"/>
                    </a:solidFill>
                  </a:tcPr>
                </a:tc>
              </a:tr>
              <a:tr h="475488">
                <a:tc>
                  <a:txBody>
                    <a:bodyPr/>
                    <a:lstStyle/>
                    <a:p>
                      <a:pPr algn="ctr"/>
                      <a:r>
                        <a:rPr sz="1300" b="0">
                          <a:solidFill>
                            <a:srgbClr val="FFFFFF"/>
                          </a:solidFill>
                        </a:rPr>
                        <a:t>conv3.bias</a:t>
                      </a:r>
                    </a:p>
                  </a:txBody>
                  <a:tcPr>
                    <a:solidFill>
                      <a:srgbClr val="1E1E2E"/>
                    </a:solidFill>
                  </a:tcPr>
                </a:tc>
                <a:tc>
                  <a:txBody>
                    <a:bodyPr/>
                    <a:lstStyle/>
                    <a:p>
                      <a:pPr algn="ctr"/>
                      <a:r>
                        <a:rPr sz="1300" b="0">
                          <a:solidFill>
                            <a:srgbClr val="FFFFFF"/>
                          </a:solidFill>
                        </a:rPr>
                        <a:t>(32,)</a:t>
                      </a:r>
                    </a:p>
                  </a:txBody>
                  <a:tcPr>
                    <a:solidFill>
                      <a:srgbClr val="1E1E2E"/>
                    </a:solidFill>
                  </a:tcPr>
                </a:tc>
                <a:tc>
                  <a:txBody>
                    <a:bodyPr/>
                    <a:lstStyle/>
                    <a:p>
                      <a:pPr algn="ctr"/>
                      <a:r>
                        <a:rPr sz="1300" b="0">
                          <a:solidFill>
                            <a:srgbClr val="FFFFFF"/>
                          </a:solidFill>
                        </a:rPr>
                        <a:t>32</a:t>
                      </a:r>
                    </a:p>
                  </a:txBody>
                  <a:tcPr>
                    <a:solidFill>
                      <a:srgbClr val="1E1E2E"/>
                    </a:solidFill>
                  </a:tcPr>
                </a:tc>
              </a:tr>
              <a:tr h="475488">
                <a:tc>
                  <a:txBody>
                    <a:bodyPr/>
                    <a:lstStyle/>
                    <a:p>
                      <a:pPr algn="ctr"/>
                      <a:r>
                        <a:rPr sz="1300" b="0">
                          <a:solidFill>
                            <a:srgbClr val="FFFFFF"/>
                          </a:solidFill>
                        </a:rPr>
                        <a:t>fc.weight</a:t>
                      </a:r>
                    </a:p>
                  </a:txBody>
                  <a:tcPr>
                    <a:solidFill>
                      <a:srgbClr val="313244"/>
                    </a:solidFill>
                  </a:tcPr>
                </a:tc>
                <a:tc>
                  <a:txBody>
                    <a:bodyPr/>
                    <a:lstStyle/>
                    <a:p>
                      <a:pPr algn="ctr"/>
                      <a:r>
                        <a:rPr sz="1300" b="0">
                          <a:solidFill>
                            <a:srgbClr val="FFFFFF"/>
                          </a:solidFill>
                        </a:rPr>
                        <a:t>(10, 3872)</a:t>
                      </a:r>
                    </a:p>
                  </a:txBody>
                  <a:tcPr>
                    <a:solidFill>
                      <a:srgbClr val="313244"/>
                    </a:solidFill>
                  </a:tcPr>
                </a:tc>
                <a:tc>
                  <a:txBody>
                    <a:bodyPr/>
                    <a:lstStyle/>
                    <a:p>
                      <a:pPr algn="ctr"/>
                      <a:r>
                        <a:rPr sz="1300" b="0">
                          <a:solidFill>
                            <a:srgbClr val="FFFFFF"/>
                          </a:solidFill>
                        </a:rPr>
                        <a:t>38 720</a:t>
                      </a:r>
                    </a:p>
                  </a:txBody>
                  <a:tcPr>
                    <a:solidFill>
                      <a:srgbClr val="313244"/>
                    </a:solidFill>
                  </a:tcPr>
                </a:tc>
              </a:tr>
              <a:tr h="475488">
                <a:tc>
                  <a:txBody>
                    <a:bodyPr/>
                    <a:lstStyle/>
                    <a:p>
                      <a:pPr algn="ctr"/>
                      <a:r>
                        <a:rPr sz="1300" b="0">
                          <a:solidFill>
                            <a:srgbClr val="FFFFFF"/>
                          </a:solidFill>
                        </a:rPr>
                        <a:t>fc.bias</a:t>
                      </a:r>
                    </a:p>
                  </a:txBody>
                  <a:tcPr>
                    <a:solidFill>
                      <a:srgbClr val="1E1E2E"/>
                    </a:solidFill>
                  </a:tcPr>
                </a:tc>
                <a:tc>
                  <a:txBody>
                    <a:bodyPr/>
                    <a:lstStyle/>
                    <a:p>
                      <a:pPr algn="ctr"/>
                      <a:r>
                        <a:rPr sz="1300" b="0">
                          <a:solidFill>
                            <a:srgbClr val="FFFFFF"/>
                          </a:solidFill>
                        </a:rPr>
                        <a:t>(10,)</a:t>
                      </a:r>
                    </a:p>
                  </a:txBody>
                  <a:tcPr>
                    <a:solidFill>
                      <a:srgbClr val="1E1E2E"/>
                    </a:solidFill>
                  </a:tcPr>
                </a:tc>
                <a:tc>
                  <a:txBody>
                    <a:bodyPr/>
                    <a:lstStyle/>
                    <a:p>
                      <a:pPr algn="ctr"/>
                      <a:r>
                        <a:rPr sz="1300" b="0">
                          <a:solidFill>
                            <a:srgbClr val="FFFFFF"/>
                          </a:solidFill>
                        </a:rPr>
                        <a:t>10</a:t>
                      </a:r>
                    </a:p>
                  </a:txBody>
                  <a:tcPr>
                    <a:solidFill>
                      <a:srgbClr val="1E1E2E"/>
                    </a:solidFill>
                  </a:tcPr>
                </a:tc>
              </a:tr>
              <a:tr h="475488">
                <a:tc>
                  <a:txBody>
                    <a:bodyPr/>
                    <a:lstStyle/>
                    <a:p>
                      <a:pPr algn="ctr"/>
                      <a:r>
                        <a:rPr sz="1300" b="0">
                          <a:solidFill>
                            <a:srgbClr val="FFFFFF"/>
                          </a:solidFill>
                        </a:rPr>
                        <a:t>Total</a:t>
                      </a:r>
                    </a:p>
                  </a:txBody>
                  <a:tcPr>
                    <a:solidFill>
                      <a:srgbClr val="313244"/>
                    </a:solidFill>
                  </a:tcPr>
                </a:tc>
                <a:tc>
                  <a:txBody>
                    <a:bodyPr/>
                    <a:lstStyle/>
                    <a:p>
                      <a:pPr algn="ctr"/>
                      <a:r>
                        <a:rPr sz="1300" b="0">
                          <a:solidFill>
                            <a:srgbClr val="FFFFFF"/>
                          </a:solidFill>
                        </a:rPr>
                        <a:t>—</a:t>
                      </a:r>
                    </a:p>
                  </a:txBody>
                  <a:tcPr>
                    <a:solidFill>
                      <a:srgbClr val="313244"/>
                    </a:solidFill>
                  </a:tcPr>
                </a:tc>
                <a:tc>
                  <a:txBody>
                    <a:bodyPr/>
                    <a:lstStyle/>
                    <a:p>
                      <a:pPr algn="ctr"/>
                      <a:r>
                        <a:rPr sz="1300" b="0">
                          <a:solidFill>
                            <a:srgbClr val="FFFFFF"/>
                          </a:solidFill>
                        </a:rPr>
                        <a:t>52 778</a:t>
                      </a:r>
                    </a:p>
                  </a:txBody>
                  <a:tcPr>
                    <a:solidFill>
                      <a:srgbClr val="313244"/>
                    </a:solidFill>
                  </a:tcPr>
                </a:tc>
              </a:tr>
            </a:tbl>
          </a:graphicData>
        </a:graphic>
      </p:graphicFrame>
      <p:sp>
        <p:nvSpPr>
          <p:cNvPr id="26" name="TextBox 25"/>
          <p:cNvSpPr txBox="1"/>
          <p:nvPr/>
        </p:nvSpPr>
        <p:spPr>
          <a:xfrm>
            <a:off x="320040" y="5989320"/>
            <a:ext cx="11521440" cy="365760"/>
          </a:xfrm>
          <a:prstGeom prst="rect">
            <a:avLst/>
          </a:prstGeom>
          <a:noFill/>
        </p:spPr>
        <p:txBody>
          <a:bodyPr wrap="square">
            <a:spAutoFit/>
          </a:bodyPr>
          <a:lstStyle/>
          <a:p>
            <a:pPr algn="l"/>
            <a:r>
              <a:rPr sz="1200" b="0">
                <a:solidFill>
                  <a:srgbClr val="585B70"/>
                </a:solidFill>
              </a:rPr>
              <a:t>Output: weights_YYYY-MM-DD-HH-MM-SS.h  ·  Latest: weights_2026-05-19-00-21-15.h  (7 983 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ImageEmbed — images.h &amp; MNIST NumPy Export</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Test vectors for HLS co-simulation and hardware bring-up</a:t>
            </a:r>
          </a:p>
        </p:txBody>
      </p:sp>
      <p:sp>
        <p:nvSpPr>
          <p:cNvPr id="5" name="Rectangle 4"/>
          <p:cNvSpPr/>
          <p:nvPr/>
        </p:nvSpPr>
        <p:spPr>
          <a:xfrm>
            <a:off x="320040" y="1417320"/>
            <a:ext cx="5577840" cy="228600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4572000" cy="365760"/>
          </a:xfrm>
          <a:prstGeom prst="rect">
            <a:avLst/>
          </a:prstGeom>
          <a:noFill/>
        </p:spPr>
        <p:txBody>
          <a:bodyPr wrap="square">
            <a:spAutoFit/>
          </a:bodyPr>
          <a:lstStyle/>
          <a:p>
            <a:pPr algn="l"/>
            <a:r>
              <a:rPr sz="1800" b="1">
                <a:solidFill>
                  <a:srgbClr val="74C7EC"/>
                </a:solidFill>
              </a:rPr>
              <a:t>images.h</a:t>
            </a:r>
          </a:p>
        </p:txBody>
      </p:sp>
      <p:sp>
        <p:nvSpPr>
          <p:cNvPr id="7" name="TextBox 6"/>
          <p:cNvSpPr txBox="1"/>
          <p:nvPr/>
        </p:nvSpPr>
        <p:spPr>
          <a:xfrm>
            <a:off x="548640" y="1920240"/>
            <a:ext cx="5212080" cy="292608"/>
          </a:xfrm>
          <a:prstGeom prst="rect">
            <a:avLst/>
          </a:prstGeom>
          <a:noFill/>
        </p:spPr>
        <p:txBody>
          <a:bodyPr wrap="square">
            <a:spAutoFit/>
          </a:bodyPr>
          <a:lstStyle/>
          <a:p>
            <a:pPr algn="l"/>
            <a:r>
              <a:rPr sz="1200" b="0">
                <a:solidFill>
                  <a:srgbClr val="CDD6F4"/>
                </a:solidFill>
              </a:rPr>
              <a:t>• 280 sample images, 28 per digit (digits 0–9)</a:t>
            </a:r>
          </a:p>
        </p:txBody>
      </p:sp>
      <p:sp>
        <p:nvSpPr>
          <p:cNvPr id="8" name="TextBox 7"/>
          <p:cNvSpPr txBox="1"/>
          <p:nvPr/>
        </p:nvSpPr>
        <p:spPr>
          <a:xfrm>
            <a:off x="548640" y="2221992"/>
            <a:ext cx="5212080" cy="292608"/>
          </a:xfrm>
          <a:prstGeom prst="rect">
            <a:avLst/>
          </a:prstGeom>
          <a:noFill/>
        </p:spPr>
        <p:txBody>
          <a:bodyPr wrap="square">
            <a:spAutoFit/>
          </a:bodyPr>
          <a:lstStyle/>
          <a:p>
            <a:pPr algn="l"/>
            <a:r>
              <a:rPr sz="1200" b="0">
                <a:solidFill>
                  <a:srgbClr val="CDD6F4"/>
                </a:solidFill>
              </a:rPr>
              <a:t>• Shape: [280][1][28][28]  — NOT flattened</a:t>
            </a:r>
          </a:p>
        </p:txBody>
      </p:sp>
      <p:sp>
        <p:nvSpPr>
          <p:cNvPr id="9" name="TextBox 8"/>
          <p:cNvSpPr txBox="1"/>
          <p:nvPr/>
        </p:nvSpPr>
        <p:spPr>
          <a:xfrm>
            <a:off x="548640" y="2523744"/>
            <a:ext cx="5212080" cy="292608"/>
          </a:xfrm>
          <a:prstGeom prst="rect">
            <a:avLst/>
          </a:prstGeom>
          <a:noFill/>
        </p:spPr>
        <p:txBody>
          <a:bodyPr wrap="square">
            <a:spAutoFit/>
          </a:bodyPr>
          <a:lstStyle/>
          <a:p>
            <a:pPr algn="l"/>
            <a:r>
              <a:rPr sz="1200" b="0">
                <a:solidFill>
                  <a:srgbClr val="CDD6F4"/>
                </a:solidFill>
              </a:rPr>
              <a:t>• dtype: float  (same Normalize(0.5, 0.5) as training)</a:t>
            </a:r>
          </a:p>
        </p:txBody>
      </p:sp>
      <p:sp>
        <p:nvSpPr>
          <p:cNvPr id="10" name="TextBox 9"/>
          <p:cNvSpPr txBox="1"/>
          <p:nvPr/>
        </p:nvSpPr>
        <p:spPr>
          <a:xfrm>
            <a:off x="548640" y="2825496"/>
            <a:ext cx="5212080" cy="292608"/>
          </a:xfrm>
          <a:prstGeom prst="rect">
            <a:avLst/>
          </a:prstGeom>
          <a:noFill/>
        </p:spPr>
        <p:txBody>
          <a:bodyPr wrap="square">
            <a:spAutoFit/>
          </a:bodyPr>
          <a:lstStyle/>
          <a:p>
            <a:pPr algn="l"/>
            <a:r>
              <a:rPr sz="1200" b="0">
                <a:solidFill>
                  <a:srgbClr val="CDD6F4"/>
                </a:solidFill>
              </a:rPr>
              <a:t>• Format: static const float IMAGES[280][1][28][28] = {…}</a:t>
            </a:r>
          </a:p>
        </p:txBody>
      </p:sp>
      <p:sp>
        <p:nvSpPr>
          <p:cNvPr id="11" name="TextBox 10"/>
          <p:cNvSpPr txBox="1"/>
          <p:nvPr/>
        </p:nvSpPr>
        <p:spPr>
          <a:xfrm>
            <a:off x="548640" y="3127248"/>
            <a:ext cx="5212080" cy="292608"/>
          </a:xfrm>
          <a:prstGeom prst="rect">
            <a:avLst/>
          </a:prstGeom>
          <a:noFill/>
        </p:spPr>
        <p:txBody>
          <a:bodyPr wrap="square">
            <a:spAutoFit/>
          </a:bodyPr>
          <a:lstStyle/>
          <a:p>
            <a:pPr algn="l"/>
            <a:r>
              <a:rPr sz="1200" b="0">
                <a:solidFill>
                  <a:srgbClr val="CDD6F4"/>
                </a:solidFill>
              </a:rPr>
              <a:t>• #define IMAGE_NUM 280</a:t>
            </a:r>
          </a:p>
        </p:txBody>
      </p:sp>
      <p:sp>
        <p:nvSpPr>
          <p:cNvPr id="12" name="Rectangle 11"/>
          <p:cNvSpPr/>
          <p:nvPr/>
        </p:nvSpPr>
        <p:spPr>
          <a:xfrm>
            <a:off x="6126480" y="1417320"/>
            <a:ext cx="5760720" cy="228600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463040"/>
            <a:ext cx="5486400" cy="365760"/>
          </a:xfrm>
          <a:prstGeom prst="rect">
            <a:avLst/>
          </a:prstGeom>
          <a:noFill/>
        </p:spPr>
        <p:txBody>
          <a:bodyPr wrap="square">
            <a:spAutoFit/>
          </a:bodyPr>
          <a:lstStyle/>
          <a:p>
            <a:pPr algn="l"/>
            <a:r>
              <a:rPr sz="1800" b="1">
                <a:solidFill>
                  <a:srgbClr val="A6E3A1"/>
                </a:solidFill>
              </a:rPr>
              <a:t>MNIST_DATASET_*.npy</a:t>
            </a:r>
          </a:p>
        </p:txBody>
      </p:sp>
      <p:sp>
        <p:nvSpPr>
          <p:cNvPr id="14" name="TextBox 13"/>
          <p:cNvSpPr txBox="1"/>
          <p:nvPr/>
        </p:nvSpPr>
        <p:spPr>
          <a:xfrm>
            <a:off x="6263640" y="1920240"/>
            <a:ext cx="5486400" cy="292608"/>
          </a:xfrm>
          <a:prstGeom prst="rect">
            <a:avLst/>
          </a:prstGeom>
          <a:noFill/>
        </p:spPr>
        <p:txBody>
          <a:bodyPr wrap="square">
            <a:spAutoFit/>
          </a:bodyPr>
          <a:lstStyle/>
          <a:p>
            <a:pPr algn="l"/>
            <a:r>
              <a:rPr sz="1200" b="0">
                <a:solidFill>
                  <a:srgbClr val="CDD6F4"/>
                </a:solidFill>
              </a:rPr>
              <a:t>• Full 70 000 images  +  labels</a:t>
            </a:r>
          </a:p>
        </p:txBody>
      </p:sp>
      <p:sp>
        <p:nvSpPr>
          <p:cNvPr id="15" name="TextBox 14"/>
          <p:cNvSpPr txBox="1"/>
          <p:nvPr/>
        </p:nvSpPr>
        <p:spPr>
          <a:xfrm>
            <a:off x="6263640" y="2221992"/>
            <a:ext cx="5486400" cy="292608"/>
          </a:xfrm>
          <a:prstGeom prst="rect">
            <a:avLst/>
          </a:prstGeom>
          <a:noFill/>
        </p:spPr>
        <p:txBody>
          <a:bodyPr wrap="square">
            <a:spAutoFit/>
          </a:bodyPr>
          <a:lstStyle/>
          <a:p>
            <a:pPr algn="l"/>
            <a:r>
              <a:rPr sz="1200" b="0">
                <a:solidFill>
                  <a:srgbClr val="CDD6F4"/>
                </a:solidFill>
              </a:rPr>
              <a:t>• Sorted by digit: 0×7000, 1×7000 … 9×7000</a:t>
            </a:r>
          </a:p>
        </p:txBody>
      </p:sp>
      <p:sp>
        <p:nvSpPr>
          <p:cNvPr id="16" name="TextBox 15"/>
          <p:cNvSpPr txBox="1"/>
          <p:nvPr/>
        </p:nvSpPr>
        <p:spPr>
          <a:xfrm>
            <a:off x="6263640" y="2523744"/>
            <a:ext cx="5486400" cy="292608"/>
          </a:xfrm>
          <a:prstGeom prst="rect">
            <a:avLst/>
          </a:prstGeom>
          <a:noFill/>
        </p:spPr>
        <p:txBody>
          <a:bodyPr wrap="square">
            <a:spAutoFit/>
          </a:bodyPr>
          <a:lstStyle/>
          <a:p>
            <a:pPr algn="l"/>
            <a:r>
              <a:rPr sz="1200" b="0">
                <a:solidFill>
                  <a:srgbClr val="CDD6F4"/>
                </a:solidFill>
              </a:rPr>
              <a:t>• IMAGE shape: (70000, 1, 28, 28)  — preserves CHW</a:t>
            </a:r>
          </a:p>
        </p:txBody>
      </p:sp>
      <p:sp>
        <p:nvSpPr>
          <p:cNvPr id="17" name="TextBox 16"/>
          <p:cNvSpPr txBox="1"/>
          <p:nvPr/>
        </p:nvSpPr>
        <p:spPr>
          <a:xfrm>
            <a:off x="6263640" y="2825496"/>
            <a:ext cx="5486400" cy="292608"/>
          </a:xfrm>
          <a:prstGeom prst="rect">
            <a:avLst/>
          </a:prstGeom>
          <a:noFill/>
        </p:spPr>
        <p:txBody>
          <a:bodyPr wrap="square">
            <a:spAutoFit/>
          </a:bodyPr>
          <a:lstStyle/>
          <a:p>
            <a:pPr algn="l"/>
            <a:r>
              <a:rPr sz="1200" b="0">
                <a:solidFill>
                  <a:srgbClr val="CDD6F4"/>
                </a:solidFill>
              </a:rPr>
              <a:t>• LABEL shape: (70000,)  int64</a:t>
            </a:r>
          </a:p>
        </p:txBody>
      </p:sp>
      <p:sp>
        <p:nvSpPr>
          <p:cNvPr id="18" name="TextBox 17"/>
          <p:cNvSpPr txBox="1"/>
          <p:nvPr/>
        </p:nvSpPr>
        <p:spPr>
          <a:xfrm>
            <a:off x="6263640" y="3127248"/>
            <a:ext cx="5486400" cy="292608"/>
          </a:xfrm>
          <a:prstGeom prst="rect">
            <a:avLst/>
          </a:prstGeom>
          <a:noFill/>
        </p:spPr>
        <p:txBody>
          <a:bodyPr wrap="square">
            <a:spAutoFit/>
          </a:bodyPr>
          <a:lstStyle/>
          <a:p>
            <a:pPr algn="l"/>
            <a:r>
              <a:rPr sz="1200" b="0">
                <a:solidFill>
                  <a:srgbClr val="CDD6F4"/>
                </a:solidFill>
              </a:rPr>
              <a:t>• Used for RTL/HLS co-simulation ground truth</a:t>
            </a:r>
          </a:p>
        </p:txBody>
      </p:sp>
      <p:sp>
        <p:nvSpPr>
          <p:cNvPr id="19" name="TextBox 18"/>
          <p:cNvSpPr txBox="1"/>
          <p:nvPr/>
        </p:nvSpPr>
        <p:spPr>
          <a:xfrm>
            <a:off x="320040" y="3840480"/>
            <a:ext cx="10972800" cy="274320"/>
          </a:xfrm>
          <a:prstGeom prst="rect">
            <a:avLst/>
          </a:prstGeom>
          <a:noFill/>
        </p:spPr>
        <p:txBody>
          <a:bodyPr wrap="square">
            <a:spAutoFit/>
          </a:bodyPr>
          <a:lstStyle/>
          <a:p>
            <a:pPr algn="l"/>
            <a:r>
              <a:rPr sz="1300" b="1">
                <a:solidFill>
                  <a:srgbClr val="F9E2AF"/>
                </a:solidFill>
              </a:rPr>
              <a:t>Export calls (from notebook):</a:t>
            </a:r>
          </a:p>
        </p:txBody>
      </p:sp>
      <p:sp>
        <p:nvSpPr>
          <p:cNvPr id="20" name="Rectangle 19"/>
          <p:cNvSpPr/>
          <p:nvPr/>
        </p:nvSpPr>
        <p:spPr>
          <a:xfrm>
            <a:off x="320040" y="4160520"/>
            <a:ext cx="11521440" cy="91440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206240"/>
            <a:ext cx="11247120" cy="822960"/>
          </a:xfrm>
          <a:prstGeom prst="rect">
            <a:avLst/>
          </a:prstGeom>
          <a:noFill/>
        </p:spPr>
        <p:txBody>
          <a:bodyPr wrap="square">
            <a:spAutoFit/>
          </a:bodyPr>
          <a:lstStyle/>
          <a:p>
            <a:pPr algn="l"/>
            <a:r>
              <a:rPr sz="1300" b="0">
                <a:solidFill>
                  <a:srgbClr val="A6E3A1"/>
                </a:solidFill>
              </a:rPr>
              <a:t>mnist.export_h(280, "float", lambda x: f"{repr(x)}f", "./images.h")
mnist.export_np("./MNIST_DATASET_IMAGE.npy", mode="image")
mnist.export_np("./MNIST_DATASET_LABEL.npy", mode="label")</a:t>
            </a:r>
          </a:p>
        </p:txBody>
      </p:sp>
      <p:sp>
        <p:nvSpPr>
          <p:cNvPr id="22" name="TextBox 21"/>
          <p:cNvSpPr txBox="1"/>
          <p:nvPr/>
        </p:nvSpPr>
        <p:spPr>
          <a:xfrm>
            <a:off x="320040" y="5212080"/>
            <a:ext cx="11521440" cy="274320"/>
          </a:xfrm>
          <a:prstGeom prst="rect">
            <a:avLst/>
          </a:prstGeom>
          <a:noFill/>
        </p:spPr>
        <p:txBody>
          <a:bodyPr wrap="square">
            <a:spAutoFit/>
          </a:bodyPr>
          <a:lstStyle/>
          <a:p>
            <a:pPr algn="l"/>
            <a:r>
              <a:rPr sz="1100" b="0">
                <a:solidFill>
                  <a:srgbClr val="585B70"/>
                </a:solidFill>
              </a:rPr>
              <a:t>Note: MNIST data is digit-bucketed, then interleaved 28 samples per digit for images.h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Complete Software Pipeline</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EEE426_FINAL.ipynb — end-to-end flow</a:t>
            </a:r>
          </a:p>
        </p:txBody>
      </p:sp>
      <p:sp>
        <p:nvSpPr>
          <p:cNvPr id="5" name="Rectangle 4"/>
          <p:cNvSpPr/>
          <p:nvPr/>
        </p:nvSpPr>
        <p:spPr>
          <a:xfrm>
            <a:off x="51663" y="1828800"/>
            <a:ext cx="1554480" cy="1280160"/>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663" y="1920240"/>
            <a:ext cx="1554480" cy="384048"/>
          </a:xfrm>
          <a:prstGeom prst="rect">
            <a:avLst/>
          </a:prstGeom>
          <a:noFill/>
        </p:spPr>
        <p:txBody>
          <a:bodyPr wrap="square">
            <a:spAutoFit/>
          </a:bodyPr>
          <a:lstStyle/>
          <a:p>
            <a:pPr algn="ctr"/>
            <a:r>
              <a:rPr sz="1300" b="1">
                <a:solidFill>
                  <a:srgbClr val="FFFFFF"/>
                </a:solidFill>
              </a:rPr>
              <a:t>DATASET</a:t>
            </a:r>
          </a:p>
        </p:txBody>
      </p:sp>
      <p:sp>
        <p:nvSpPr>
          <p:cNvPr id="7" name="TextBox 6"/>
          <p:cNvSpPr txBox="1"/>
          <p:nvPr/>
        </p:nvSpPr>
        <p:spPr>
          <a:xfrm>
            <a:off x="51663" y="2304288"/>
            <a:ext cx="1554480" cy="749808"/>
          </a:xfrm>
          <a:prstGeom prst="rect">
            <a:avLst/>
          </a:prstGeom>
          <a:noFill/>
        </p:spPr>
        <p:txBody>
          <a:bodyPr wrap="square">
            <a:spAutoFit/>
          </a:bodyPr>
          <a:lstStyle/>
          <a:p>
            <a:pPr algn="ctr"/>
            <a:r>
              <a:rPr sz="1000" b="0">
                <a:solidFill>
                  <a:srgbClr val="CDD6F4"/>
                </a:solidFill>
              </a:rPr>
              <a:t>MNIST 70k
ToTensor + Normalize(0.5,0.5)</a:t>
            </a:r>
          </a:p>
        </p:txBody>
      </p:sp>
      <p:sp>
        <p:nvSpPr>
          <p:cNvPr id="8" name="TextBox 7"/>
          <p:cNvSpPr txBox="1"/>
          <p:nvPr/>
        </p:nvSpPr>
        <p:spPr>
          <a:xfrm>
            <a:off x="1626260" y="2286000"/>
            <a:ext cx="292608" cy="457200"/>
          </a:xfrm>
          <a:prstGeom prst="rect">
            <a:avLst/>
          </a:prstGeom>
          <a:noFill/>
        </p:spPr>
        <p:txBody>
          <a:bodyPr wrap="square">
            <a:spAutoFit/>
          </a:bodyPr>
          <a:lstStyle/>
          <a:p>
            <a:pPr algn="ctr"/>
            <a:r>
              <a:rPr sz="2000" b="1">
                <a:solidFill>
                  <a:srgbClr val="74C7EC"/>
                </a:solidFill>
              </a:rPr>
              <a:t>→</a:t>
            </a:r>
          </a:p>
        </p:txBody>
      </p:sp>
      <p:sp>
        <p:nvSpPr>
          <p:cNvPr id="9" name="Rectangle 8"/>
          <p:cNvSpPr/>
          <p:nvPr/>
        </p:nvSpPr>
        <p:spPr>
          <a:xfrm>
            <a:off x="1807311" y="1828800"/>
            <a:ext cx="1554480" cy="128016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07311" y="1920240"/>
            <a:ext cx="1554480" cy="384048"/>
          </a:xfrm>
          <a:prstGeom prst="rect">
            <a:avLst/>
          </a:prstGeom>
          <a:noFill/>
        </p:spPr>
        <p:txBody>
          <a:bodyPr wrap="square">
            <a:spAutoFit/>
          </a:bodyPr>
          <a:lstStyle/>
          <a:p>
            <a:pPr algn="ctr"/>
            <a:r>
              <a:rPr sz="1300" b="1">
                <a:solidFill>
                  <a:srgbClr val="1E1E2E"/>
                </a:solidFill>
              </a:rPr>
              <a:t>QAT MODEL</a:t>
            </a:r>
          </a:p>
        </p:txBody>
      </p:sp>
      <p:sp>
        <p:nvSpPr>
          <p:cNvPr id="11" name="TextBox 10"/>
          <p:cNvSpPr txBox="1"/>
          <p:nvPr/>
        </p:nvSpPr>
        <p:spPr>
          <a:xfrm>
            <a:off x="1807311" y="2304288"/>
            <a:ext cx="1554480" cy="749808"/>
          </a:xfrm>
          <a:prstGeom prst="rect">
            <a:avLst/>
          </a:prstGeom>
          <a:noFill/>
        </p:spPr>
        <p:txBody>
          <a:bodyPr wrap="square">
            <a:spAutoFit/>
          </a:bodyPr>
          <a:lstStyle/>
          <a:p>
            <a:pPr algn="ctr"/>
            <a:r>
              <a:rPr sz="1000" b="0">
                <a:solidFill>
                  <a:srgbClr val="1E1E2E"/>
                </a:solidFill>
              </a:rPr>
              <a:t>QUANTIZED_MNISTCNN
ap_fixed&lt;16,7&gt; throughout</a:t>
            </a:r>
          </a:p>
        </p:txBody>
      </p:sp>
      <p:sp>
        <p:nvSpPr>
          <p:cNvPr id="12" name="TextBox 11"/>
          <p:cNvSpPr txBox="1"/>
          <p:nvPr/>
        </p:nvSpPr>
        <p:spPr>
          <a:xfrm>
            <a:off x="3381908" y="2286000"/>
            <a:ext cx="292608" cy="457200"/>
          </a:xfrm>
          <a:prstGeom prst="rect">
            <a:avLst/>
          </a:prstGeom>
          <a:noFill/>
        </p:spPr>
        <p:txBody>
          <a:bodyPr wrap="square">
            <a:spAutoFit/>
          </a:bodyPr>
          <a:lstStyle/>
          <a:p>
            <a:pPr algn="ctr"/>
            <a:r>
              <a:rPr sz="2000" b="1">
                <a:solidFill>
                  <a:srgbClr val="74C7EC"/>
                </a:solidFill>
              </a:rPr>
              <a:t>→</a:t>
            </a:r>
          </a:p>
        </p:txBody>
      </p:sp>
      <p:sp>
        <p:nvSpPr>
          <p:cNvPr id="13" name="Rectangle 12"/>
          <p:cNvSpPr/>
          <p:nvPr/>
        </p:nvSpPr>
        <p:spPr>
          <a:xfrm>
            <a:off x="3562959" y="1828800"/>
            <a:ext cx="1554480" cy="1280160"/>
          </a:xfrm>
          <a:prstGeom prst="rect">
            <a:avLst/>
          </a:prstGeom>
          <a:solidFill>
            <a:srgbClr val="74C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2959" y="1920240"/>
            <a:ext cx="1554480" cy="384048"/>
          </a:xfrm>
          <a:prstGeom prst="rect">
            <a:avLst/>
          </a:prstGeom>
          <a:noFill/>
        </p:spPr>
        <p:txBody>
          <a:bodyPr wrap="square">
            <a:spAutoFit/>
          </a:bodyPr>
          <a:lstStyle/>
          <a:p>
            <a:pPr algn="ctr"/>
            <a:r>
              <a:rPr sz="1300" b="1">
                <a:solidFill>
                  <a:srgbClr val="1E1E2E"/>
                </a:solidFill>
              </a:rPr>
              <a:t>TRAINING</a:t>
            </a:r>
          </a:p>
        </p:txBody>
      </p:sp>
      <p:sp>
        <p:nvSpPr>
          <p:cNvPr id="15" name="TextBox 14"/>
          <p:cNvSpPr txBox="1"/>
          <p:nvPr/>
        </p:nvSpPr>
        <p:spPr>
          <a:xfrm>
            <a:off x="3562959" y="2304288"/>
            <a:ext cx="1554480" cy="749808"/>
          </a:xfrm>
          <a:prstGeom prst="rect">
            <a:avLst/>
          </a:prstGeom>
          <a:noFill/>
        </p:spPr>
        <p:txBody>
          <a:bodyPr wrap="square">
            <a:spAutoFit/>
          </a:bodyPr>
          <a:lstStyle/>
          <a:p>
            <a:pPr algn="ctr"/>
            <a:r>
              <a:rPr sz="1000" b="0">
                <a:solidFill>
                  <a:srgbClr val="1E1E2E"/>
                </a:solidFill>
              </a:rPr>
              <a:t>Adam, lr=1e-3
batch 256, 5 epochs</a:t>
            </a:r>
          </a:p>
        </p:txBody>
      </p:sp>
      <p:sp>
        <p:nvSpPr>
          <p:cNvPr id="16" name="TextBox 15"/>
          <p:cNvSpPr txBox="1"/>
          <p:nvPr/>
        </p:nvSpPr>
        <p:spPr>
          <a:xfrm>
            <a:off x="5137556" y="2286000"/>
            <a:ext cx="292608" cy="457200"/>
          </a:xfrm>
          <a:prstGeom prst="rect">
            <a:avLst/>
          </a:prstGeom>
          <a:noFill/>
        </p:spPr>
        <p:txBody>
          <a:bodyPr wrap="square">
            <a:spAutoFit/>
          </a:bodyPr>
          <a:lstStyle/>
          <a:p>
            <a:pPr algn="ctr"/>
            <a:r>
              <a:rPr sz="2000" b="1">
                <a:solidFill>
                  <a:srgbClr val="74C7EC"/>
                </a:solidFill>
              </a:rPr>
              <a:t>→</a:t>
            </a:r>
          </a:p>
        </p:txBody>
      </p:sp>
      <p:sp>
        <p:nvSpPr>
          <p:cNvPr id="17" name="Rectangle 16"/>
          <p:cNvSpPr/>
          <p:nvPr/>
        </p:nvSpPr>
        <p:spPr>
          <a:xfrm>
            <a:off x="5318607" y="1828800"/>
            <a:ext cx="1554480" cy="128016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18607" y="1920240"/>
            <a:ext cx="1554480" cy="384048"/>
          </a:xfrm>
          <a:prstGeom prst="rect">
            <a:avLst/>
          </a:prstGeom>
          <a:noFill/>
        </p:spPr>
        <p:txBody>
          <a:bodyPr wrap="square">
            <a:spAutoFit/>
          </a:bodyPr>
          <a:lstStyle/>
          <a:p>
            <a:pPr algn="ctr"/>
            <a:r>
              <a:rPr sz="1300" b="1">
                <a:solidFill>
                  <a:srgbClr val="1E1E2E"/>
                </a:solidFill>
              </a:rPr>
              <a:t>BEST CKPT</a:t>
            </a:r>
          </a:p>
        </p:txBody>
      </p:sp>
      <p:sp>
        <p:nvSpPr>
          <p:cNvPr id="19" name="TextBox 18"/>
          <p:cNvSpPr txBox="1"/>
          <p:nvPr/>
        </p:nvSpPr>
        <p:spPr>
          <a:xfrm>
            <a:off x="5318607" y="2304288"/>
            <a:ext cx="1554480" cy="749808"/>
          </a:xfrm>
          <a:prstGeom prst="rect">
            <a:avLst/>
          </a:prstGeom>
          <a:noFill/>
        </p:spPr>
        <p:txBody>
          <a:bodyPr wrap="square">
            <a:spAutoFit/>
          </a:bodyPr>
          <a:lstStyle/>
          <a:p>
            <a:pPr algn="ctr"/>
            <a:r>
              <a:rPr sz="1000" b="0">
                <a:solidFill>
                  <a:srgbClr val="1E1E2E"/>
                </a:solidFill>
              </a:rPr>
              <a:t>QUANTIZED_MNISTCNN-
2026-05-19-00-18-25.pth</a:t>
            </a:r>
          </a:p>
        </p:txBody>
      </p:sp>
      <p:sp>
        <p:nvSpPr>
          <p:cNvPr id="20" name="TextBox 19"/>
          <p:cNvSpPr txBox="1"/>
          <p:nvPr/>
        </p:nvSpPr>
        <p:spPr>
          <a:xfrm>
            <a:off x="6893204" y="2286000"/>
            <a:ext cx="292608" cy="457200"/>
          </a:xfrm>
          <a:prstGeom prst="rect">
            <a:avLst/>
          </a:prstGeom>
          <a:noFill/>
        </p:spPr>
        <p:txBody>
          <a:bodyPr wrap="square">
            <a:spAutoFit/>
          </a:bodyPr>
          <a:lstStyle/>
          <a:p>
            <a:pPr algn="ctr"/>
            <a:r>
              <a:rPr sz="2000" b="1">
                <a:solidFill>
                  <a:srgbClr val="74C7EC"/>
                </a:solidFill>
              </a:rPr>
              <a:t>→</a:t>
            </a:r>
          </a:p>
        </p:txBody>
      </p:sp>
      <p:sp>
        <p:nvSpPr>
          <p:cNvPr id="21" name="Rectangle 20"/>
          <p:cNvSpPr/>
          <p:nvPr/>
        </p:nvSpPr>
        <p:spPr>
          <a:xfrm>
            <a:off x="7074255" y="1828800"/>
            <a:ext cx="1554480" cy="128016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74255" y="1920240"/>
            <a:ext cx="1554480" cy="384048"/>
          </a:xfrm>
          <a:prstGeom prst="rect">
            <a:avLst/>
          </a:prstGeom>
          <a:noFill/>
        </p:spPr>
        <p:txBody>
          <a:bodyPr wrap="square">
            <a:spAutoFit/>
          </a:bodyPr>
          <a:lstStyle/>
          <a:p>
            <a:pPr algn="ctr"/>
            <a:r>
              <a:rPr sz="1300" b="1">
                <a:solidFill>
                  <a:srgbClr val="1E1E2E"/>
                </a:solidFill>
              </a:rPr>
              <a:t>weights.h</a:t>
            </a:r>
          </a:p>
        </p:txBody>
      </p:sp>
      <p:sp>
        <p:nvSpPr>
          <p:cNvPr id="23" name="TextBox 22"/>
          <p:cNvSpPr txBox="1"/>
          <p:nvPr/>
        </p:nvSpPr>
        <p:spPr>
          <a:xfrm>
            <a:off x="7074255" y="2304288"/>
            <a:ext cx="1554480" cy="749808"/>
          </a:xfrm>
          <a:prstGeom prst="rect">
            <a:avLst/>
          </a:prstGeom>
          <a:noFill/>
        </p:spPr>
        <p:txBody>
          <a:bodyPr wrap="square">
            <a:spAutoFit/>
          </a:bodyPr>
          <a:lstStyle/>
          <a:p>
            <a:pPr algn="ctr"/>
            <a:r>
              <a:rPr sz="1000" b="0">
                <a:solidFill>
                  <a:srgbClr val="1E1E2E"/>
                </a:solidFill>
              </a:rPr>
              <a:t>8 tensors, C header
ap_fixed&lt;16,7,AP_RND,AP_SAT&gt;</a:t>
            </a:r>
          </a:p>
        </p:txBody>
      </p:sp>
      <p:sp>
        <p:nvSpPr>
          <p:cNvPr id="24" name="TextBox 23"/>
          <p:cNvSpPr txBox="1"/>
          <p:nvPr/>
        </p:nvSpPr>
        <p:spPr>
          <a:xfrm>
            <a:off x="8648852" y="2286000"/>
            <a:ext cx="292608" cy="457200"/>
          </a:xfrm>
          <a:prstGeom prst="rect">
            <a:avLst/>
          </a:prstGeom>
          <a:noFill/>
        </p:spPr>
        <p:txBody>
          <a:bodyPr wrap="square">
            <a:spAutoFit/>
          </a:bodyPr>
          <a:lstStyle/>
          <a:p>
            <a:pPr algn="ctr"/>
            <a:r>
              <a:rPr sz="2000" b="1">
                <a:solidFill>
                  <a:srgbClr val="74C7EC"/>
                </a:solidFill>
              </a:rPr>
              <a:t>→</a:t>
            </a:r>
          </a:p>
        </p:txBody>
      </p:sp>
      <p:sp>
        <p:nvSpPr>
          <p:cNvPr id="25" name="Rectangle 24"/>
          <p:cNvSpPr/>
          <p:nvPr/>
        </p:nvSpPr>
        <p:spPr>
          <a:xfrm>
            <a:off x="8829903" y="1828800"/>
            <a:ext cx="1554480" cy="128016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9903" y="1920240"/>
            <a:ext cx="1554480" cy="384048"/>
          </a:xfrm>
          <a:prstGeom prst="rect">
            <a:avLst/>
          </a:prstGeom>
          <a:noFill/>
        </p:spPr>
        <p:txBody>
          <a:bodyPr wrap="square">
            <a:spAutoFit/>
          </a:bodyPr>
          <a:lstStyle/>
          <a:p>
            <a:pPr algn="ctr"/>
            <a:r>
              <a:rPr sz="1300" b="1">
                <a:solidFill>
                  <a:srgbClr val="1E1E2E"/>
                </a:solidFill>
              </a:rPr>
              <a:t>images.h</a:t>
            </a:r>
          </a:p>
        </p:txBody>
      </p:sp>
      <p:sp>
        <p:nvSpPr>
          <p:cNvPr id="27" name="TextBox 26"/>
          <p:cNvSpPr txBox="1"/>
          <p:nvPr/>
        </p:nvSpPr>
        <p:spPr>
          <a:xfrm>
            <a:off x="8829903" y="2304288"/>
            <a:ext cx="1554480" cy="749808"/>
          </a:xfrm>
          <a:prstGeom prst="rect">
            <a:avLst/>
          </a:prstGeom>
          <a:noFill/>
        </p:spPr>
        <p:txBody>
          <a:bodyPr wrap="square">
            <a:spAutoFit/>
          </a:bodyPr>
          <a:lstStyle/>
          <a:p>
            <a:pPr algn="ctr"/>
            <a:r>
              <a:rPr sz="1000" b="0">
                <a:solidFill>
                  <a:srgbClr val="1E1E2E"/>
                </a:solidFill>
              </a:rPr>
              <a:t>280 images
[280][1][28][28] float</a:t>
            </a:r>
          </a:p>
        </p:txBody>
      </p:sp>
      <p:sp>
        <p:nvSpPr>
          <p:cNvPr id="28" name="TextBox 27"/>
          <p:cNvSpPr txBox="1"/>
          <p:nvPr/>
        </p:nvSpPr>
        <p:spPr>
          <a:xfrm>
            <a:off x="10404500" y="2286000"/>
            <a:ext cx="292608" cy="457200"/>
          </a:xfrm>
          <a:prstGeom prst="rect">
            <a:avLst/>
          </a:prstGeom>
          <a:noFill/>
        </p:spPr>
        <p:txBody>
          <a:bodyPr wrap="square">
            <a:spAutoFit/>
          </a:bodyPr>
          <a:lstStyle/>
          <a:p>
            <a:pPr algn="ctr"/>
            <a:r>
              <a:rPr sz="2000" b="1">
                <a:solidFill>
                  <a:srgbClr val="74C7EC"/>
                </a:solidFill>
              </a:rPr>
              <a:t>→</a:t>
            </a:r>
          </a:p>
        </p:txBody>
      </p:sp>
      <p:sp>
        <p:nvSpPr>
          <p:cNvPr id="29" name="Rectangle 28"/>
          <p:cNvSpPr/>
          <p:nvPr/>
        </p:nvSpPr>
        <p:spPr>
          <a:xfrm>
            <a:off x="10585551" y="1828800"/>
            <a:ext cx="1554480" cy="128016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85551" y="1920240"/>
            <a:ext cx="1554480" cy="384048"/>
          </a:xfrm>
          <a:prstGeom prst="rect">
            <a:avLst/>
          </a:prstGeom>
          <a:noFill/>
        </p:spPr>
        <p:txBody>
          <a:bodyPr wrap="square">
            <a:spAutoFit/>
          </a:bodyPr>
          <a:lstStyle/>
          <a:p>
            <a:pPr algn="ctr"/>
            <a:r>
              <a:rPr sz="1300" b="1">
                <a:solidFill>
                  <a:srgbClr val="1E1E2E"/>
                </a:solidFill>
              </a:rPr>
              <a:t>MNIST .npy</a:t>
            </a:r>
          </a:p>
        </p:txBody>
      </p:sp>
      <p:sp>
        <p:nvSpPr>
          <p:cNvPr id="31" name="TextBox 30"/>
          <p:cNvSpPr txBox="1"/>
          <p:nvPr/>
        </p:nvSpPr>
        <p:spPr>
          <a:xfrm>
            <a:off x="10585551" y="2304288"/>
            <a:ext cx="1554480" cy="749808"/>
          </a:xfrm>
          <a:prstGeom prst="rect">
            <a:avLst/>
          </a:prstGeom>
          <a:noFill/>
        </p:spPr>
        <p:txBody>
          <a:bodyPr wrap="square">
            <a:spAutoFit/>
          </a:bodyPr>
          <a:lstStyle/>
          <a:p>
            <a:pPr algn="ctr"/>
            <a:r>
              <a:rPr sz="1000" b="0">
                <a:solidFill>
                  <a:srgbClr val="1E1E2E"/>
                </a:solidFill>
              </a:rPr>
              <a:t>IMAGE (70k,1,28,28)
LABEL (70k,) int64</a:t>
            </a:r>
          </a:p>
        </p:txBody>
      </p:sp>
      <p:sp>
        <p:nvSpPr>
          <p:cNvPr id="32" name="Rectangle 31"/>
          <p:cNvSpPr/>
          <p:nvPr/>
        </p:nvSpPr>
        <p:spPr>
          <a:xfrm>
            <a:off x="3291840" y="3337560"/>
            <a:ext cx="2286000" cy="50292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7560" y="3364992"/>
            <a:ext cx="2194560" cy="457200"/>
          </a:xfrm>
          <a:prstGeom prst="rect">
            <a:avLst/>
          </a:prstGeom>
          <a:noFill/>
        </p:spPr>
        <p:txBody>
          <a:bodyPr wrap="square">
            <a:spAutoFit/>
          </a:bodyPr>
          <a:lstStyle/>
          <a:p>
            <a:pPr algn="ctr"/>
            <a:r>
              <a:rPr sz="1100" b="1">
                <a:solidFill>
                  <a:srgbClr val="A6E3A1"/>
                </a:solidFill>
              </a:rPr>
              <a:t>Test: 98.92 %
Full-set: 99.36 %</a:t>
            </a:r>
          </a:p>
        </p:txBody>
      </p:sp>
      <p:sp>
        <p:nvSpPr>
          <p:cNvPr id="34" name="Rectangle 33"/>
          <p:cNvSpPr/>
          <p:nvPr/>
        </p:nvSpPr>
        <p:spPr>
          <a:xfrm>
            <a:off x="6400800" y="1508760"/>
            <a:ext cx="36576" cy="2011680"/>
          </a:xfrm>
          <a:prstGeom prst="rect">
            <a:avLst/>
          </a:prstGeom>
          <a:solidFill>
            <a:srgbClr val="585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1783080"/>
            <a:ext cx="1371600" cy="640080"/>
          </a:xfrm>
          <a:prstGeom prst="rect">
            <a:avLst/>
          </a:prstGeom>
          <a:noFill/>
        </p:spPr>
        <p:txBody>
          <a:bodyPr wrap="square">
            <a:spAutoFit/>
          </a:bodyPr>
          <a:lstStyle/>
          <a:p>
            <a:pPr algn="ctr"/>
            <a:r>
              <a:rPr sz="1000" b="0">
                <a:solidFill>
                  <a:srgbClr val="585B70"/>
                </a:solidFill>
              </a:rPr>
              <a:t>SW output for
hardware team →</a:t>
            </a:r>
          </a:p>
        </p:txBody>
      </p:sp>
      <p:sp>
        <p:nvSpPr>
          <p:cNvPr id="36" name="TextBox 35"/>
          <p:cNvSpPr txBox="1"/>
          <p:nvPr/>
        </p:nvSpPr>
        <p:spPr>
          <a:xfrm>
            <a:off x="320040" y="5074920"/>
            <a:ext cx="11521440" cy="365760"/>
          </a:xfrm>
          <a:prstGeom prst="rect">
            <a:avLst/>
          </a:prstGeom>
          <a:noFill/>
        </p:spPr>
        <p:txBody>
          <a:bodyPr wrap="square">
            <a:spAutoFit/>
          </a:bodyPr>
          <a:lstStyle/>
          <a:p>
            <a:pPr algn="ctr"/>
            <a:r>
              <a:rPr sz="1400" b="1">
                <a:solidFill>
                  <a:srgbClr val="A6E3A1"/>
                </a:solidFill>
              </a:rPr>
              <a:t>All outputs verified and committed. Ready to hand off to hardware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822960"/>
          </a:xfrm>
          <a:prstGeom prst="rect">
            <a:avLst/>
          </a:prstGeom>
          <a:noFill/>
        </p:spPr>
        <p:txBody>
          <a:bodyPr wrap="square">
            <a:spAutoFit/>
          </a:bodyPr>
          <a:lstStyle/>
          <a:p>
            <a:pPr algn="l"/>
            <a:r>
              <a:rPr sz="3600" b="1">
                <a:solidFill>
                  <a:srgbClr val="74C7EC"/>
                </a:solidFill>
              </a:rPr>
              <a:t>Remaining Work &amp; Interface Contract</a:t>
            </a:r>
          </a:p>
        </p:txBody>
      </p:sp>
      <p:sp>
        <p:nvSpPr>
          <p:cNvPr id="4" name="TextBox 3"/>
          <p:cNvSpPr txBox="1"/>
          <p:nvPr/>
        </p:nvSpPr>
        <p:spPr>
          <a:xfrm>
            <a:off x="457200" y="932688"/>
            <a:ext cx="10972800" cy="347472"/>
          </a:xfrm>
          <a:prstGeom prst="rect">
            <a:avLst/>
          </a:prstGeom>
          <a:noFill/>
        </p:spPr>
        <p:txBody>
          <a:bodyPr wrap="square">
            <a:spAutoFit/>
          </a:bodyPr>
          <a:lstStyle/>
          <a:p>
            <a:pPr algn="l"/>
            <a:r>
              <a:rPr sz="1600" b="0">
                <a:solidFill>
                  <a:srgbClr val="CDD6F4"/>
                </a:solidFill>
              </a:rPr>
              <a:t>What still needs to be agreed / implemented</a:t>
            </a:r>
          </a:p>
        </p:txBody>
      </p:sp>
      <p:sp>
        <p:nvSpPr>
          <p:cNvPr id="5" name="Rectangle 4"/>
          <p:cNvSpPr/>
          <p:nvPr/>
        </p:nvSpPr>
        <p:spPr>
          <a:xfrm>
            <a:off x="320040" y="1417320"/>
            <a:ext cx="3657600" cy="347472"/>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17320"/>
            <a:ext cx="3657600" cy="347472"/>
          </a:xfrm>
          <a:prstGeom prst="rect">
            <a:avLst/>
          </a:prstGeom>
          <a:noFill/>
        </p:spPr>
        <p:txBody>
          <a:bodyPr wrap="square">
            <a:spAutoFit/>
          </a:bodyPr>
          <a:lstStyle/>
          <a:p>
            <a:pPr algn="l"/>
            <a:r>
              <a:rPr sz="1300" b="1">
                <a:solidFill>
                  <a:srgbClr val="1E1E2E"/>
                </a:solidFill>
              </a:rPr>
              <a:t>Hardware (in progress)</a:t>
            </a:r>
          </a:p>
        </p:txBody>
      </p:sp>
      <p:sp>
        <p:nvSpPr>
          <p:cNvPr id="7" name="TextBox 6"/>
          <p:cNvSpPr txBox="1"/>
          <p:nvPr/>
        </p:nvSpPr>
        <p:spPr>
          <a:xfrm>
            <a:off x="411480" y="1801368"/>
            <a:ext cx="3474720" cy="320040"/>
          </a:xfrm>
          <a:prstGeom prst="rect">
            <a:avLst/>
          </a:prstGeom>
          <a:noFill/>
        </p:spPr>
        <p:txBody>
          <a:bodyPr wrap="square">
            <a:spAutoFit/>
          </a:bodyPr>
          <a:lstStyle/>
          <a:p>
            <a:pPr algn="l"/>
            <a:r>
              <a:rPr sz="1200" b="0">
                <a:solidFill>
                  <a:srgbClr val="CDD6F4"/>
                </a:solidFill>
              </a:rPr>
              <a:t>• HLS kernel implementing exact forward graph (conv→Q→relu order)</a:t>
            </a:r>
          </a:p>
        </p:txBody>
      </p:sp>
      <p:sp>
        <p:nvSpPr>
          <p:cNvPr id="8" name="TextBox 7"/>
          <p:cNvSpPr txBox="1"/>
          <p:nvPr/>
        </p:nvSpPr>
        <p:spPr>
          <a:xfrm>
            <a:off x="411480" y="2130552"/>
            <a:ext cx="3474720" cy="320040"/>
          </a:xfrm>
          <a:prstGeom prst="rect">
            <a:avLst/>
          </a:prstGeom>
          <a:noFill/>
        </p:spPr>
        <p:txBody>
          <a:bodyPr wrap="square">
            <a:spAutoFit/>
          </a:bodyPr>
          <a:lstStyle/>
          <a:p>
            <a:pPr algn="l"/>
            <a:r>
              <a:rPr sz="1200" b="0">
                <a:solidFill>
                  <a:srgbClr val="CDD6F4"/>
                </a:solidFill>
              </a:rPr>
              <a:t>• DMA / Overlay integration on Pynq-Z2</a:t>
            </a:r>
          </a:p>
        </p:txBody>
      </p:sp>
      <p:sp>
        <p:nvSpPr>
          <p:cNvPr id="9" name="TextBox 8"/>
          <p:cNvSpPr txBox="1"/>
          <p:nvPr/>
        </p:nvSpPr>
        <p:spPr>
          <a:xfrm>
            <a:off x="411480" y="2459736"/>
            <a:ext cx="3474720" cy="320040"/>
          </a:xfrm>
          <a:prstGeom prst="rect">
            <a:avLst/>
          </a:prstGeom>
          <a:noFill/>
        </p:spPr>
        <p:txBody>
          <a:bodyPr wrap="square">
            <a:spAutoFit/>
          </a:bodyPr>
          <a:lstStyle/>
          <a:p>
            <a:pPr algn="l"/>
            <a:r>
              <a:rPr sz="1200" b="0">
                <a:solidFill>
                  <a:srgbClr val="CDD6F4"/>
                </a:solidFill>
              </a:rPr>
              <a:t>• Bitstream (.bit) + hardware handoff (.hwh)</a:t>
            </a:r>
          </a:p>
        </p:txBody>
      </p:sp>
      <p:sp>
        <p:nvSpPr>
          <p:cNvPr id="10" name="TextBox 9"/>
          <p:cNvSpPr txBox="1"/>
          <p:nvPr/>
        </p:nvSpPr>
        <p:spPr>
          <a:xfrm>
            <a:off x="411480" y="2788920"/>
            <a:ext cx="3474720" cy="320040"/>
          </a:xfrm>
          <a:prstGeom prst="rect">
            <a:avLst/>
          </a:prstGeom>
          <a:noFill/>
        </p:spPr>
        <p:txBody>
          <a:bodyPr wrap="square">
            <a:spAutoFit/>
          </a:bodyPr>
          <a:lstStyle/>
          <a:p>
            <a:pPr algn="l"/>
            <a:r>
              <a:rPr sz="1200" b="0">
                <a:solidFill>
                  <a:srgbClr val="CDD6F4"/>
                </a:solidFill>
              </a:rPr>
              <a:t>• C-sim / Co-sim reports using exported weights.h + images.h</a:t>
            </a:r>
          </a:p>
        </p:txBody>
      </p:sp>
      <p:sp>
        <p:nvSpPr>
          <p:cNvPr id="11" name="Rectangle 10"/>
          <p:cNvSpPr/>
          <p:nvPr/>
        </p:nvSpPr>
        <p:spPr>
          <a:xfrm>
            <a:off x="4206240" y="1417320"/>
            <a:ext cx="4114800" cy="347472"/>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417320"/>
            <a:ext cx="4114800" cy="347472"/>
          </a:xfrm>
          <a:prstGeom prst="rect">
            <a:avLst/>
          </a:prstGeom>
          <a:noFill/>
        </p:spPr>
        <p:txBody>
          <a:bodyPr wrap="square">
            <a:spAutoFit/>
          </a:bodyPr>
          <a:lstStyle/>
          <a:p>
            <a:pPr algn="l"/>
            <a:r>
              <a:rPr sz="1300" b="1">
                <a:solidFill>
                  <a:srgbClr val="1E1E2E"/>
                </a:solidFill>
              </a:rPr>
              <a:t>Joint agreement needed</a:t>
            </a:r>
          </a:p>
        </p:txBody>
      </p:sp>
      <p:sp>
        <p:nvSpPr>
          <p:cNvPr id="13" name="TextBox 12"/>
          <p:cNvSpPr txBox="1"/>
          <p:nvPr/>
        </p:nvSpPr>
        <p:spPr>
          <a:xfrm>
            <a:off x="4297680" y="1801368"/>
            <a:ext cx="3931920" cy="320040"/>
          </a:xfrm>
          <a:prstGeom prst="rect">
            <a:avLst/>
          </a:prstGeom>
          <a:noFill/>
        </p:spPr>
        <p:txBody>
          <a:bodyPr wrap="square">
            <a:spAutoFit/>
          </a:bodyPr>
          <a:lstStyle/>
          <a:p>
            <a:pPr algn="l"/>
            <a:r>
              <a:rPr sz="1200" b="0">
                <a:solidFill>
                  <a:srgbClr val="CDD6F4"/>
                </a:solidFill>
              </a:rPr>
              <a:t>• Confirm tensor memory layout with HW team: weight order [out_ch, in_ch, kH, kW]</a:t>
            </a:r>
          </a:p>
        </p:txBody>
      </p:sp>
      <p:sp>
        <p:nvSpPr>
          <p:cNvPr id="14" name="TextBox 13"/>
          <p:cNvSpPr txBox="1"/>
          <p:nvPr/>
        </p:nvSpPr>
        <p:spPr>
          <a:xfrm>
            <a:off x="4297680" y="2130552"/>
            <a:ext cx="3931920" cy="320040"/>
          </a:xfrm>
          <a:prstGeom prst="rect">
            <a:avLst/>
          </a:prstGeom>
          <a:noFill/>
        </p:spPr>
        <p:txBody>
          <a:bodyPr wrap="square">
            <a:spAutoFit/>
          </a:bodyPr>
          <a:lstStyle/>
          <a:p>
            <a:pPr algn="l"/>
            <a:r>
              <a:rPr sz="1200" b="0">
                <a:solidFill>
                  <a:srgbClr val="CDD6F4"/>
                </a:solidFill>
              </a:rPr>
              <a:t>• Agree on board input format: same Normalize(0.5, 0.5) as training</a:t>
            </a:r>
          </a:p>
        </p:txBody>
      </p:sp>
      <p:sp>
        <p:nvSpPr>
          <p:cNvPr id="15" name="TextBox 14"/>
          <p:cNvSpPr txBox="1"/>
          <p:nvPr/>
        </p:nvSpPr>
        <p:spPr>
          <a:xfrm>
            <a:off x="4297680" y="2459736"/>
            <a:ext cx="3931920" cy="320040"/>
          </a:xfrm>
          <a:prstGeom prst="rect">
            <a:avLst/>
          </a:prstGeom>
          <a:noFill/>
        </p:spPr>
        <p:txBody>
          <a:bodyPr wrap="square">
            <a:spAutoFit/>
          </a:bodyPr>
          <a:lstStyle/>
          <a:p>
            <a:pPr algn="l"/>
            <a:r>
              <a:rPr sz="1200" b="0">
                <a:solidFill>
                  <a:srgbClr val="CDD6F4"/>
                </a:solidFill>
              </a:rPr>
              <a:t>• On-board accuracy measurement vs 98.92 % SW baseline</a:t>
            </a:r>
          </a:p>
        </p:txBody>
      </p:sp>
      <p:sp>
        <p:nvSpPr>
          <p:cNvPr id="16" name="TextBox 15"/>
          <p:cNvSpPr txBox="1"/>
          <p:nvPr/>
        </p:nvSpPr>
        <p:spPr>
          <a:xfrm>
            <a:off x="4297680" y="2788920"/>
            <a:ext cx="3931920" cy="320040"/>
          </a:xfrm>
          <a:prstGeom prst="rect">
            <a:avLst/>
          </a:prstGeom>
          <a:noFill/>
        </p:spPr>
        <p:txBody>
          <a:bodyPr wrap="square">
            <a:spAutoFit/>
          </a:bodyPr>
          <a:lstStyle/>
          <a:p>
            <a:pPr algn="l"/>
            <a:r>
              <a:rPr sz="1200" b="0">
                <a:solidFill>
                  <a:srgbClr val="CDD6F4"/>
                </a:solidFill>
              </a:rPr>
              <a:t>• Runtime measurement: only preprocessing + kernel loop + accumulation</a:t>
            </a:r>
          </a:p>
        </p:txBody>
      </p:sp>
      <p:sp>
        <p:nvSpPr>
          <p:cNvPr id="17" name="Rectangle 16"/>
          <p:cNvSpPr/>
          <p:nvPr/>
        </p:nvSpPr>
        <p:spPr>
          <a:xfrm>
            <a:off x="8503920" y="1417320"/>
            <a:ext cx="3383280" cy="347472"/>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417320"/>
            <a:ext cx="3383280" cy="347472"/>
          </a:xfrm>
          <a:prstGeom prst="rect">
            <a:avLst/>
          </a:prstGeom>
          <a:noFill/>
        </p:spPr>
        <p:txBody>
          <a:bodyPr wrap="square">
            <a:spAutoFit/>
          </a:bodyPr>
          <a:lstStyle/>
          <a:p>
            <a:pPr algn="l"/>
            <a:r>
              <a:rPr sz="1300" b="1">
                <a:solidFill>
                  <a:srgbClr val="1E1E2E"/>
                </a:solidFill>
              </a:rPr>
              <a:t>SW remaining</a:t>
            </a:r>
          </a:p>
        </p:txBody>
      </p:sp>
      <p:sp>
        <p:nvSpPr>
          <p:cNvPr id="19" name="TextBox 18"/>
          <p:cNvSpPr txBox="1"/>
          <p:nvPr/>
        </p:nvSpPr>
        <p:spPr>
          <a:xfrm>
            <a:off x="8595360" y="1801368"/>
            <a:ext cx="3200400" cy="320040"/>
          </a:xfrm>
          <a:prstGeom prst="rect">
            <a:avLst/>
          </a:prstGeom>
          <a:noFill/>
        </p:spPr>
        <p:txBody>
          <a:bodyPr wrap="square">
            <a:spAutoFit/>
          </a:bodyPr>
          <a:lstStyle/>
          <a:p>
            <a:pPr algn="l"/>
            <a:r>
              <a:rPr sz="1200" b="0">
                <a:solidFill>
                  <a:srgbClr val="CDD6F4"/>
                </a:solidFill>
              </a:rPr>
              <a:t>• Pynq board driver notebook (numpy / pynq only — course rule)</a:t>
            </a:r>
          </a:p>
        </p:txBody>
      </p:sp>
      <p:sp>
        <p:nvSpPr>
          <p:cNvPr id="20" name="TextBox 19"/>
          <p:cNvSpPr txBox="1"/>
          <p:nvPr/>
        </p:nvSpPr>
        <p:spPr>
          <a:xfrm>
            <a:off x="8595360" y="2130552"/>
            <a:ext cx="3200400" cy="320040"/>
          </a:xfrm>
          <a:prstGeom prst="rect">
            <a:avLst/>
          </a:prstGeom>
          <a:noFill/>
        </p:spPr>
        <p:txBody>
          <a:bodyPr wrap="square">
            <a:spAutoFit/>
          </a:bodyPr>
          <a:lstStyle/>
          <a:p>
            <a:pPr algn="l"/>
            <a:r>
              <a:rPr sz="1200" b="0">
                <a:solidFill>
                  <a:srgbClr val="CDD6F4"/>
                </a:solidFill>
              </a:rPr>
              <a:t>• Final accuracy vs runtime comparison table for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2560320"/>
            <a:ext cx="12191695" cy="1828800"/>
          </a:xfrm>
          <a:prstGeom prst="rect">
            <a:avLst/>
          </a:prstGeom>
          <a:solidFill>
            <a:srgbClr val="313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651760"/>
            <a:ext cx="12191695" cy="822960"/>
          </a:xfrm>
          <a:prstGeom prst="rect">
            <a:avLst/>
          </a:prstGeom>
          <a:noFill/>
        </p:spPr>
        <p:txBody>
          <a:bodyPr wrap="square">
            <a:spAutoFit/>
          </a:bodyPr>
          <a:lstStyle/>
          <a:p>
            <a:pPr algn="ctr"/>
            <a:r>
              <a:rPr sz="5200" b="1">
                <a:solidFill>
                  <a:srgbClr val="74C7EC"/>
                </a:solidFill>
              </a:rPr>
              <a:t>Thank You</a:t>
            </a:r>
          </a:p>
        </p:txBody>
      </p:sp>
      <p:sp>
        <p:nvSpPr>
          <p:cNvPr id="4" name="TextBox 3"/>
          <p:cNvSpPr txBox="1"/>
          <p:nvPr/>
        </p:nvSpPr>
        <p:spPr>
          <a:xfrm>
            <a:off x="0" y="3474720"/>
            <a:ext cx="12191695" cy="548640"/>
          </a:xfrm>
          <a:prstGeom prst="rect">
            <a:avLst/>
          </a:prstGeom>
          <a:noFill/>
        </p:spPr>
        <p:txBody>
          <a:bodyPr wrap="square">
            <a:spAutoFit/>
          </a:bodyPr>
          <a:lstStyle/>
          <a:p>
            <a:pPr algn="ctr"/>
            <a:r>
              <a:rPr sz="2800" b="0">
                <a:solidFill>
                  <a:srgbClr val="FFFFFF"/>
                </a:solidFill>
              </a:rPr>
              <a:t>Questions?</a:t>
            </a:r>
          </a:p>
        </p:txBody>
      </p:sp>
      <p:sp>
        <p:nvSpPr>
          <p:cNvPr id="5" name="TextBox 4"/>
          <p:cNvSpPr txBox="1"/>
          <p:nvPr/>
        </p:nvSpPr>
        <p:spPr>
          <a:xfrm>
            <a:off x="0" y="4937760"/>
            <a:ext cx="12191695" cy="365760"/>
          </a:xfrm>
          <a:prstGeom prst="rect">
            <a:avLst/>
          </a:prstGeom>
          <a:noFill/>
        </p:spPr>
        <p:txBody>
          <a:bodyPr wrap="square">
            <a:spAutoFit/>
          </a:bodyPr>
          <a:lstStyle/>
          <a:p>
            <a:pPr algn="ctr"/>
            <a:r>
              <a:rPr sz="1300" b="0">
                <a:solidFill>
                  <a:srgbClr val="585B70"/>
                </a:solidFill>
              </a:rPr>
              <a:t>Checkpoint: QUANTIZED_MNISTCNN-2026-05-19-00-18-25.pth  |  Test acc: 98.92 %  |  Full-set: 99.36 %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